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embeddedFontLst>
    <p:embeddedFont>
      <p:font typeface="JetBrains Mono" panose="020B0604020202020204" charset="0"/>
      <p:regular r:id="rId16"/>
      <p:bold r:id="rId17"/>
      <p:italic r:id="rId18"/>
      <p:boldItalic r:id="rId19"/>
    </p:embeddedFont>
    <p:embeddedFont>
      <p:font typeface="Urbanist" panose="020B0604020202020204" charset="-18"/>
      <p:regular r:id="rId20"/>
      <p:bold r:id="rId21"/>
      <p:italic r:id="rId22"/>
      <p:boldItalic r:id="rId23"/>
    </p:embeddedFont>
    <p:embeddedFont>
      <p:font typeface="Urbanist Light" panose="020B0604020202020204" charset="-18"/>
      <p:regular r:id="rId24"/>
      <p:bold r:id="rId25"/>
      <p:italic r:id="rId26"/>
      <p:boldItalic r:id="rId27"/>
    </p:embeddedFont>
    <p:embeddedFont>
      <p:font typeface="Urbanist SemiBold" panose="020B0604020202020204" charset="-18"/>
      <p:regular r:id="rId28"/>
      <p:bold r:id="rId29"/>
      <p:italic r:id="rId30"/>
      <p:boldItalic r:id="rId3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font" Target="fonts/font11.fntdata"/><Relationship Id="rId3" Type="http://schemas.openxmlformats.org/officeDocument/2006/relationships/slide" Target="slides/slide2.xml"/><Relationship Id="rId21" Type="http://schemas.openxmlformats.org/officeDocument/2006/relationships/font" Target="fonts/font6.fntdata"/><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font" Target="fonts/font10.fntdata"/><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29" Type="http://schemas.openxmlformats.org/officeDocument/2006/relationships/font" Target="fonts/font1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9.fntdata"/><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font" Target="fonts/font8.fntdata"/><Relationship Id="rId28" Type="http://schemas.openxmlformats.org/officeDocument/2006/relationships/font" Target="fonts/font13.fntdata"/><Relationship Id="rId10" Type="http://schemas.openxmlformats.org/officeDocument/2006/relationships/slide" Target="slides/slide9.xml"/><Relationship Id="rId19" Type="http://schemas.openxmlformats.org/officeDocument/2006/relationships/font" Target="fonts/font4.fntdata"/><Relationship Id="rId31" Type="http://schemas.openxmlformats.org/officeDocument/2006/relationships/font" Target="fonts/font1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27" Type="http://schemas.openxmlformats.org/officeDocument/2006/relationships/font" Target="fonts/font12.fntdata"/><Relationship Id="rId30" Type="http://schemas.openxmlformats.org/officeDocument/2006/relationships/font" Target="fonts/font15.fntdata"/><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0" name="Google Shape;90;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6" name="Google Shape;106;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g3ea140f1ee4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0" name="Google Shape;120;g3ea140f1ee4_0_5: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8" name="Google Shape;128;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42" name="Google Shape;14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1" name="Google Shape;161;p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g3ea140f1ee4_0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0" name="Google Shape;180;g3ea140f1ee4_0_28: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8" name="Google Shape;188;p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6" name="Google Shape;206;p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6" name="Google Shape;216;p1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224" name="Google Shape;224;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png"/><Relationship Id="rId7"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10" Type="http://schemas.openxmlformats.org/officeDocument/2006/relationships/image" Target="../media/image17.png"/><Relationship Id="rId4" Type="http://schemas.openxmlformats.org/officeDocument/2006/relationships/image" Target="../media/image11.png"/><Relationship Id="rId9" Type="http://schemas.openxmlformats.org/officeDocument/2006/relationships/image" Target="../media/image16.png"/></Relationships>
</file>

<file path=ppt/slides/_rels/slide7.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png"/><Relationship Id="rId7"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 Id="rId9" Type="http://schemas.openxmlformats.org/officeDocument/2006/relationships/image" Target="../media/image23.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1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27.png"/></Relationships>
</file>

<file path=ppt/slides/_rels/slide1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20617"/>
        </a:solidFill>
        <a:effectLst/>
      </p:bgPr>
    </p:bg>
    <p:spTree>
      <p:nvGrpSpPr>
        <p:cNvPr id="1" name="Shape 83"/>
        <p:cNvGrpSpPr/>
        <p:nvPr/>
      </p:nvGrpSpPr>
      <p:grpSpPr>
        <a:xfrm>
          <a:off x="0" y="0"/>
          <a:ext cx="0" cy="0"/>
          <a:chOff x="0" y="0"/>
          <a:chExt cx="0" cy="0"/>
        </a:xfrm>
      </p:grpSpPr>
      <p:pic>
        <p:nvPicPr>
          <p:cNvPr id="84" name="Google Shape;84;p13"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85" name="Google Shape;85;p13"/>
          <p:cNvSpPr txBox="1"/>
          <p:nvPr/>
        </p:nvSpPr>
        <p:spPr>
          <a:xfrm>
            <a:off x="295275" y="1771650"/>
            <a:ext cx="11601450" cy="1885950"/>
          </a:xfrm>
          <a:prstGeom prst="rect">
            <a:avLst/>
          </a:prstGeom>
          <a:noFill/>
          <a:ln>
            <a:noFill/>
          </a:ln>
        </p:spPr>
        <p:txBody>
          <a:bodyPr spcFirstLastPara="1" wrap="square" lIns="0" tIns="0" rIns="0" bIns="0" anchor="t" anchorCtr="0">
            <a:spAutoFit/>
          </a:bodyPr>
          <a:lstStyle/>
          <a:p>
            <a:pPr marL="0" marR="0" lvl="0" indent="0" algn="ctr" rtl="0">
              <a:lnSpc>
                <a:spcPct val="110000"/>
              </a:lnSpc>
              <a:spcBef>
                <a:spcPts val="0"/>
              </a:spcBef>
              <a:spcAft>
                <a:spcPts val="0"/>
              </a:spcAft>
              <a:buNone/>
            </a:pPr>
            <a:r>
              <a:rPr lang="en-US" sz="6750" b="1" i="0" u="none" strike="noStrike" cap="none">
                <a:solidFill>
                  <a:srgbClr val="F8FAFC"/>
                </a:solidFill>
                <a:latin typeface="Urbanist"/>
                <a:ea typeface="Urbanist"/>
                <a:cs typeface="Urbanist"/>
                <a:sym typeface="Urbanist"/>
              </a:rPr>
              <a:t>Vectorized </a:t>
            </a:r>
            <a:r>
              <a:rPr lang="en-US" sz="6750" b="1" i="0" u="none" strike="noStrike" cap="none">
                <a:solidFill>
                  <a:srgbClr val="22C55E"/>
                </a:solidFill>
                <a:latin typeface="Urbanist"/>
                <a:ea typeface="Urbanist"/>
                <a:cs typeface="Urbanist"/>
                <a:sym typeface="Urbanist"/>
              </a:rPr>
              <a:t>Motion Positioning</a:t>
            </a:r>
            <a:r>
              <a:rPr lang="en-US" sz="6750" b="1" i="0" u="none" strike="noStrike" cap="none">
                <a:solidFill>
                  <a:srgbClr val="F8FAFC"/>
                </a:solidFill>
                <a:latin typeface="Urbanist"/>
                <a:ea typeface="Urbanist"/>
                <a:cs typeface="Urbanist"/>
                <a:sym typeface="Urbanist"/>
              </a:rPr>
              <a:t> Component</a:t>
            </a:r>
            <a:endParaRPr/>
          </a:p>
        </p:txBody>
      </p:sp>
      <p:sp>
        <p:nvSpPr>
          <p:cNvPr id="86" name="Google Shape;86;p13"/>
          <p:cNvSpPr txBox="1"/>
          <p:nvPr/>
        </p:nvSpPr>
        <p:spPr>
          <a:xfrm>
            <a:off x="571500" y="4032075"/>
            <a:ext cx="11049000" cy="517065"/>
          </a:xfrm>
          <a:prstGeom prst="rect">
            <a:avLst/>
          </a:prstGeom>
          <a:noFill/>
          <a:ln>
            <a:noFill/>
          </a:ln>
        </p:spPr>
        <p:txBody>
          <a:bodyPr spcFirstLastPara="1" wrap="square" lIns="0" tIns="0" rIns="0" bIns="0" anchor="t" anchorCtr="0">
            <a:spAutoFit/>
          </a:bodyPr>
          <a:lstStyle/>
          <a:p>
            <a:pPr marL="0" marR="0" lvl="0" indent="0" algn="ctr" rtl="0">
              <a:lnSpc>
                <a:spcPct val="159952"/>
              </a:lnSpc>
              <a:spcBef>
                <a:spcPts val="0"/>
              </a:spcBef>
              <a:spcAft>
                <a:spcPts val="0"/>
              </a:spcAft>
              <a:buNone/>
            </a:pPr>
            <a:r>
              <a:rPr lang="pl-PL" sz="2100">
                <a:solidFill>
                  <a:srgbClr val="94A3B8"/>
                </a:solidFill>
                <a:latin typeface="Urbanist Light"/>
                <a:ea typeface="Urbanist Light"/>
                <a:cs typeface="Urbanist Light"/>
                <a:sym typeface="Urbanist Light"/>
              </a:rPr>
              <a:t>Paweł </a:t>
            </a:r>
            <a:r>
              <a:rPr lang="pl-PL" sz="2100" dirty="0">
                <a:solidFill>
                  <a:srgbClr val="94A3B8"/>
                </a:solidFill>
                <a:latin typeface="Urbanist Light"/>
                <a:ea typeface="Urbanist Light"/>
                <a:cs typeface="Urbanist Light"/>
                <a:sym typeface="Urbanist Light"/>
              </a:rPr>
              <a:t>Jerzyna, Piotr Grzyb, Marcin Dworak</a:t>
            </a:r>
            <a:endParaRPr dirty="0"/>
          </a:p>
        </p:txBody>
      </p:sp>
      <p:sp>
        <p:nvSpPr>
          <p:cNvPr id="87" name="Google Shape;87;p13"/>
          <p:cNvSpPr txBox="1"/>
          <p:nvPr/>
        </p:nvSpPr>
        <p:spPr>
          <a:xfrm>
            <a:off x="571500" y="4751040"/>
            <a:ext cx="11049000" cy="33516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650" b="0" i="0" u="none" strike="noStrike" cap="none" dirty="0">
                <a:solidFill>
                  <a:srgbClr val="4ADE80"/>
                </a:solidFill>
                <a:latin typeface="JetBrains Mono"/>
                <a:ea typeface="JetBrains Mono"/>
                <a:cs typeface="JetBrains Mono"/>
                <a:sym typeface="JetBrains Mono"/>
              </a:rPr>
              <a:t>Advanced Vision Systems | June 2026</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20617"/>
        </a:solidFill>
        <a:effectLst/>
      </p:bgPr>
    </p:bg>
    <p:spTree>
      <p:nvGrpSpPr>
        <p:cNvPr id="1" name="Shape 91"/>
        <p:cNvGrpSpPr/>
        <p:nvPr/>
      </p:nvGrpSpPr>
      <p:grpSpPr>
        <a:xfrm>
          <a:off x="0" y="0"/>
          <a:ext cx="0" cy="0"/>
          <a:chOff x="0" y="0"/>
          <a:chExt cx="0" cy="0"/>
        </a:xfrm>
      </p:grpSpPr>
      <p:pic>
        <p:nvPicPr>
          <p:cNvPr id="92" name="Google Shape;92;p14" descr="image.png"/>
          <p:cNvPicPr preferRelativeResize="0"/>
          <p:nvPr/>
        </p:nvPicPr>
        <p:blipFill rotWithShape="1">
          <a:blip r:embed="rId3">
            <a:alphaModFix/>
          </a:blip>
          <a:srcRect/>
          <a:stretch/>
        </p:blipFill>
        <p:spPr>
          <a:xfrm>
            <a:off x="-84350" y="0"/>
            <a:ext cx="12192000" cy="6858000"/>
          </a:xfrm>
          <a:prstGeom prst="rect">
            <a:avLst/>
          </a:prstGeom>
          <a:noFill/>
          <a:ln>
            <a:noFill/>
          </a:ln>
        </p:spPr>
      </p:pic>
      <p:sp>
        <p:nvSpPr>
          <p:cNvPr id="93" name="Google Shape;93;p14"/>
          <p:cNvSpPr txBox="1"/>
          <p:nvPr/>
        </p:nvSpPr>
        <p:spPr>
          <a:xfrm>
            <a:off x="571500" y="1752600"/>
            <a:ext cx="5500800" cy="323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94A3B8"/>
                </a:solidFill>
                <a:latin typeface="Urbanist"/>
                <a:ea typeface="Urbanist"/>
                <a:cs typeface="Urbanist"/>
                <a:sym typeface="Urbanist"/>
              </a:rPr>
              <a:t>Decoupled Navigation </a:t>
            </a:r>
            <a:r>
              <a:rPr lang="en-US" sz="2100" b="1">
                <a:solidFill>
                  <a:srgbClr val="94A3B8"/>
                </a:solidFill>
                <a:latin typeface="Urbanist"/>
                <a:ea typeface="Urbanist"/>
                <a:cs typeface="Urbanist"/>
                <a:sym typeface="Urbanist"/>
              </a:rPr>
              <a:t>For Drones</a:t>
            </a:r>
            <a:endParaRPr/>
          </a:p>
        </p:txBody>
      </p:sp>
      <p:pic>
        <p:nvPicPr>
          <p:cNvPr id="94" name="Google Shape;94;p14" descr="image.png"/>
          <p:cNvPicPr preferRelativeResize="0"/>
          <p:nvPr/>
        </p:nvPicPr>
        <p:blipFill rotWithShape="1">
          <a:blip r:embed="rId4">
            <a:alphaModFix/>
          </a:blip>
          <a:srcRect/>
          <a:stretch/>
        </p:blipFill>
        <p:spPr>
          <a:xfrm>
            <a:off x="6391275" y="1762125"/>
            <a:ext cx="2943225" cy="180975"/>
          </a:xfrm>
          <a:prstGeom prst="rect">
            <a:avLst/>
          </a:prstGeom>
          <a:noFill/>
          <a:ln>
            <a:noFill/>
          </a:ln>
        </p:spPr>
      </p:pic>
      <p:sp>
        <p:nvSpPr>
          <p:cNvPr id="95" name="Google Shape;95;p14"/>
          <p:cNvSpPr txBox="1"/>
          <p:nvPr/>
        </p:nvSpPr>
        <p:spPr>
          <a:xfrm>
            <a:off x="952500" y="2266950"/>
            <a:ext cx="4857900" cy="1066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a:solidFill>
                  <a:srgbClr val="4ADE80"/>
                </a:solidFill>
                <a:latin typeface="Urbanist SemiBold"/>
                <a:ea typeface="Urbanist SemiBold"/>
                <a:cs typeface="Urbanist SemiBold"/>
                <a:sym typeface="Urbanist SemiBold"/>
              </a:rPr>
              <a:t>Global Positioning Component (GPC):</a:t>
            </a:r>
            <a:r>
              <a:rPr lang="en-US" sz="1650" b="0" i="0" u="none" strike="noStrike" cap="none">
                <a:solidFill>
                  <a:srgbClr val="CBD5E1"/>
                </a:solidFill>
                <a:latin typeface="Urbanist"/>
                <a:ea typeface="Urbanist"/>
                <a:cs typeface="Urbanist"/>
                <a:sym typeface="Urbanist"/>
              </a:rPr>
              <a:t> Absolute reference u</a:t>
            </a:r>
            <a:r>
              <a:rPr lang="en-US" sz="1650">
                <a:solidFill>
                  <a:srgbClr val="CBD5E1"/>
                </a:solidFill>
                <a:latin typeface="Urbanist"/>
                <a:ea typeface="Urbanist"/>
                <a:cs typeface="Urbanist"/>
                <a:sym typeface="Urbanist"/>
              </a:rPr>
              <a:t>sed to correct the trajectory with low frequency</a:t>
            </a:r>
            <a:r>
              <a:rPr lang="en-US" sz="1650" b="0" i="0" u="none" strike="noStrike" cap="none">
                <a:solidFill>
                  <a:srgbClr val="CBD5E1"/>
                </a:solidFill>
                <a:latin typeface="Urbanist"/>
                <a:ea typeface="Urbanist"/>
                <a:cs typeface="Urbanist"/>
                <a:sym typeface="Urbanist"/>
              </a:rPr>
              <a:t>.</a:t>
            </a:r>
            <a:endParaRPr/>
          </a:p>
        </p:txBody>
      </p:sp>
      <p:sp>
        <p:nvSpPr>
          <p:cNvPr id="96" name="Google Shape;96;p14"/>
          <p:cNvSpPr txBox="1"/>
          <p:nvPr/>
        </p:nvSpPr>
        <p:spPr>
          <a:xfrm>
            <a:off x="952500" y="3462932"/>
            <a:ext cx="4857750" cy="1005482"/>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a:solidFill>
                  <a:srgbClr val="4ADE80"/>
                </a:solidFill>
                <a:latin typeface="Urbanist SemiBold"/>
                <a:ea typeface="Urbanist SemiBold"/>
                <a:cs typeface="Urbanist SemiBold"/>
                <a:sym typeface="Urbanist SemiBold"/>
              </a:rPr>
              <a:t>Motion Positioning Component (MPC):</a:t>
            </a:r>
            <a:r>
              <a:rPr lang="en-US" sz="1650" b="0" i="0" u="none" strike="noStrike" cap="none">
                <a:solidFill>
                  <a:srgbClr val="CBD5E1"/>
                </a:solidFill>
                <a:latin typeface="Urbanist"/>
                <a:ea typeface="Urbanist"/>
                <a:cs typeface="Urbanist"/>
                <a:sym typeface="Urbanist"/>
              </a:rPr>
              <a:t> High-frequency relative odometry tracking frame-to-frame local transformations.</a:t>
            </a:r>
            <a:endParaRPr/>
          </a:p>
        </p:txBody>
      </p:sp>
      <p:sp>
        <p:nvSpPr>
          <p:cNvPr id="97" name="Google Shape;97;p14"/>
          <p:cNvSpPr txBox="1"/>
          <p:nvPr/>
        </p:nvSpPr>
        <p:spPr>
          <a:xfrm>
            <a:off x="952500" y="4658915"/>
            <a:ext cx="4857900" cy="1066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a:solidFill>
                  <a:srgbClr val="4ADE80"/>
                </a:solidFill>
                <a:latin typeface="Urbanist SemiBold"/>
                <a:ea typeface="Urbanist SemiBold"/>
                <a:cs typeface="Urbanist SemiBold"/>
                <a:sym typeface="Urbanist SemiBold"/>
              </a:rPr>
              <a:t>Our</a:t>
            </a:r>
            <a:r>
              <a:rPr lang="en-US" sz="1650" b="0" i="0" u="none" strike="noStrike" cap="none">
                <a:solidFill>
                  <a:srgbClr val="4ADE80"/>
                </a:solidFill>
                <a:latin typeface="Urbanist SemiBold"/>
                <a:ea typeface="Urbanist SemiBold"/>
                <a:cs typeface="Urbanist SemiBold"/>
                <a:sym typeface="Urbanist SemiBold"/>
              </a:rPr>
              <a:t> Goal:</a:t>
            </a:r>
            <a:r>
              <a:rPr lang="en-US" sz="1650" b="0" i="0" u="none" strike="noStrike" cap="none">
                <a:solidFill>
                  <a:srgbClr val="CBD5E1"/>
                </a:solidFill>
                <a:latin typeface="Urbanist"/>
                <a:ea typeface="Urbanist"/>
                <a:cs typeface="Urbanist"/>
                <a:sym typeface="Urbanist"/>
              </a:rPr>
              <a:t> Maintain trajectory estimation during GPC dropouts or signal jams in GNSS-denied zones</a:t>
            </a:r>
            <a:r>
              <a:rPr lang="en-US" sz="1650">
                <a:solidFill>
                  <a:srgbClr val="CBD5E1"/>
                </a:solidFill>
                <a:latin typeface="Urbanist"/>
                <a:ea typeface="Urbanist"/>
                <a:cs typeface="Urbanist"/>
                <a:sym typeface="Urbanist"/>
              </a:rPr>
              <a:t> through implementation of MPC (visual odometry).</a:t>
            </a:r>
            <a:endParaRPr/>
          </a:p>
        </p:txBody>
      </p:sp>
      <p:pic>
        <p:nvPicPr>
          <p:cNvPr id="98" name="Google Shape;98;p14" descr="image.png"/>
          <p:cNvPicPr preferRelativeResize="0"/>
          <p:nvPr/>
        </p:nvPicPr>
        <p:blipFill rotWithShape="1">
          <a:blip r:embed="rId5">
            <a:alphaModFix/>
          </a:blip>
          <a:srcRect/>
          <a:stretch/>
        </p:blipFill>
        <p:spPr>
          <a:xfrm>
            <a:off x="571500" y="2314575"/>
            <a:ext cx="228600" cy="247650"/>
          </a:xfrm>
          <a:prstGeom prst="rect">
            <a:avLst/>
          </a:prstGeom>
          <a:noFill/>
          <a:ln>
            <a:noFill/>
          </a:ln>
        </p:spPr>
      </p:pic>
      <p:pic>
        <p:nvPicPr>
          <p:cNvPr id="99" name="Google Shape;99;p14" descr="image.png"/>
          <p:cNvPicPr preferRelativeResize="0"/>
          <p:nvPr/>
        </p:nvPicPr>
        <p:blipFill rotWithShape="1">
          <a:blip r:embed="rId6">
            <a:alphaModFix/>
          </a:blip>
          <a:srcRect/>
          <a:stretch/>
        </p:blipFill>
        <p:spPr>
          <a:xfrm>
            <a:off x="571500" y="4706540"/>
            <a:ext cx="228600" cy="247650"/>
          </a:xfrm>
          <a:prstGeom prst="rect">
            <a:avLst/>
          </a:prstGeom>
          <a:noFill/>
          <a:ln>
            <a:noFill/>
          </a:ln>
        </p:spPr>
      </p:pic>
      <p:sp>
        <p:nvSpPr>
          <p:cNvPr id="100" name="Google Shape;100;p14"/>
          <p:cNvSpPr txBox="1"/>
          <p:nvPr/>
        </p:nvSpPr>
        <p:spPr>
          <a:xfrm>
            <a:off x="762000" y="571500"/>
            <a:ext cx="11401500" cy="554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a:solidFill>
                  <a:srgbClr val="22C55E"/>
                </a:solidFill>
                <a:latin typeface="Urbanist SemiBold"/>
                <a:ea typeface="Urbanist SemiBold"/>
                <a:cs typeface="Urbanist SemiBold"/>
                <a:sym typeface="Urbanist SemiBold"/>
              </a:rPr>
              <a:t>Problem overview</a:t>
            </a:r>
            <a:endParaRPr/>
          </a:p>
        </p:txBody>
      </p:sp>
      <p:sp>
        <p:nvSpPr>
          <p:cNvPr id="101" name="Google Shape;101;p14"/>
          <p:cNvSpPr/>
          <p:nvPr/>
        </p:nvSpPr>
        <p:spPr>
          <a:xfrm>
            <a:off x="571500" y="571500"/>
            <a:ext cx="57150" cy="552450"/>
          </a:xfrm>
          <a:prstGeom prst="rect">
            <a:avLst/>
          </a:prstGeom>
          <a:solidFill>
            <a:srgbClr val="22C55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02" name="Google Shape;102;p14"/>
          <p:cNvPicPr preferRelativeResize="0"/>
          <p:nvPr/>
        </p:nvPicPr>
        <p:blipFill>
          <a:blip r:embed="rId7">
            <a:alphaModFix/>
          </a:blip>
          <a:stretch>
            <a:fillRect/>
          </a:stretch>
        </p:blipFill>
        <p:spPr>
          <a:xfrm>
            <a:off x="6072175" y="1579750"/>
            <a:ext cx="5763250" cy="3293275"/>
          </a:xfrm>
          <a:prstGeom prst="rect">
            <a:avLst/>
          </a:prstGeom>
          <a:noFill/>
          <a:ln>
            <a:noFill/>
          </a:ln>
        </p:spPr>
      </p:pic>
      <p:sp>
        <p:nvSpPr>
          <p:cNvPr id="103" name="Google Shape;103;p14"/>
          <p:cNvSpPr txBox="1"/>
          <p:nvPr/>
        </p:nvSpPr>
        <p:spPr>
          <a:xfrm>
            <a:off x="6072175" y="5001825"/>
            <a:ext cx="705900" cy="38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3200">
                <a:solidFill>
                  <a:schemeClr val="lt1"/>
                </a:solidFill>
                <a:latin typeface="Calibri"/>
                <a:ea typeface="Calibri"/>
                <a:cs typeface="Calibri"/>
                <a:sym typeface="Calibri"/>
              </a:rPr>
              <a:t>[1]</a:t>
            </a:r>
            <a:endParaRPr sz="3200">
              <a:solidFill>
                <a:schemeClr val="lt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20617"/>
        </a:solidFill>
        <a:effectLst/>
      </p:bgPr>
    </p:bg>
    <p:spTree>
      <p:nvGrpSpPr>
        <p:cNvPr id="1" name="Shape 107"/>
        <p:cNvGrpSpPr/>
        <p:nvPr/>
      </p:nvGrpSpPr>
      <p:grpSpPr>
        <a:xfrm>
          <a:off x="0" y="0"/>
          <a:ext cx="0" cy="0"/>
          <a:chOff x="0" y="0"/>
          <a:chExt cx="0" cy="0"/>
        </a:xfrm>
      </p:grpSpPr>
      <p:pic>
        <p:nvPicPr>
          <p:cNvPr id="108" name="Google Shape;108;p15" descr="image.png"/>
          <p:cNvPicPr preferRelativeResize="0"/>
          <p:nvPr/>
        </p:nvPicPr>
        <p:blipFill rotWithShape="1">
          <a:blip r:embed="rId3">
            <a:alphaModFix/>
          </a:blip>
          <a:srcRect/>
          <a:stretch/>
        </p:blipFill>
        <p:spPr>
          <a:xfrm>
            <a:off x="0" y="-102200"/>
            <a:ext cx="12192000" cy="6858000"/>
          </a:xfrm>
          <a:prstGeom prst="rect">
            <a:avLst/>
          </a:prstGeom>
          <a:noFill/>
          <a:ln>
            <a:noFill/>
          </a:ln>
        </p:spPr>
      </p:pic>
      <p:pic>
        <p:nvPicPr>
          <p:cNvPr id="109" name="Google Shape;109;p15" descr="image.png"/>
          <p:cNvPicPr preferRelativeResize="0"/>
          <p:nvPr/>
        </p:nvPicPr>
        <p:blipFill rotWithShape="1">
          <a:blip r:embed="rId4">
            <a:alphaModFix/>
          </a:blip>
          <a:srcRect/>
          <a:stretch/>
        </p:blipFill>
        <p:spPr>
          <a:xfrm>
            <a:off x="6381750" y="3127771"/>
            <a:ext cx="5238750" cy="1878210"/>
          </a:xfrm>
          <a:prstGeom prst="rect">
            <a:avLst/>
          </a:prstGeom>
          <a:noFill/>
          <a:ln>
            <a:noFill/>
          </a:ln>
        </p:spPr>
      </p:pic>
      <p:sp>
        <p:nvSpPr>
          <p:cNvPr id="110" name="Google Shape;110;p15"/>
          <p:cNvSpPr txBox="1"/>
          <p:nvPr/>
        </p:nvSpPr>
        <p:spPr>
          <a:xfrm>
            <a:off x="6381675" y="1439100"/>
            <a:ext cx="5500800" cy="323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94A3B8"/>
                </a:solidFill>
                <a:latin typeface="Urbanist"/>
                <a:ea typeface="Urbanist"/>
                <a:cs typeface="Urbanist"/>
                <a:sym typeface="Urbanist"/>
              </a:rPr>
              <a:t>Addressing KLT Limitations</a:t>
            </a:r>
            <a:endParaRPr/>
          </a:p>
        </p:txBody>
      </p:sp>
      <p:sp>
        <p:nvSpPr>
          <p:cNvPr id="111" name="Google Shape;111;p15"/>
          <p:cNvSpPr txBox="1"/>
          <p:nvPr/>
        </p:nvSpPr>
        <p:spPr>
          <a:xfrm>
            <a:off x="6381675" y="1911588"/>
            <a:ext cx="5238900" cy="1066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a:solidFill>
                  <a:srgbClr val="CBD5E1"/>
                </a:solidFill>
                <a:latin typeface="Urbanist"/>
                <a:ea typeface="Urbanist"/>
                <a:cs typeface="Urbanist"/>
                <a:sym typeface="Urbanist"/>
              </a:rPr>
              <a:t>Traditional </a:t>
            </a:r>
            <a:r>
              <a:rPr lang="en-US" sz="1650" b="0" i="0" u="none" strike="noStrike" cap="none">
                <a:solidFill>
                  <a:srgbClr val="4ADE80"/>
                </a:solidFill>
                <a:latin typeface="Urbanist SemiBold"/>
                <a:ea typeface="Urbanist SemiBold"/>
                <a:cs typeface="Urbanist SemiBold"/>
                <a:sym typeface="Urbanist SemiBold"/>
              </a:rPr>
              <a:t>Kanade-Lucas-Tomasi (KLT)</a:t>
            </a:r>
            <a:r>
              <a:rPr lang="en-US" sz="1650" b="0" i="0" u="none" strike="noStrike" cap="none">
                <a:solidFill>
                  <a:srgbClr val="CBD5E1"/>
                </a:solidFill>
                <a:latin typeface="Urbanist"/>
                <a:ea typeface="Urbanist"/>
                <a:cs typeface="Urbanist"/>
                <a:sym typeface="Urbanist"/>
              </a:rPr>
              <a:t> </a:t>
            </a:r>
            <a:r>
              <a:rPr lang="en-US" sz="1650">
                <a:solidFill>
                  <a:srgbClr val="CBD5E1"/>
                </a:solidFill>
                <a:latin typeface="Urbanist"/>
                <a:ea typeface="Urbanist"/>
                <a:cs typeface="Urbanist"/>
                <a:sym typeface="Urbanist"/>
              </a:rPr>
              <a:t>estimates movement by shifting a small window around a point to match its pixel brightness from the previous frame </a:t>
            </a:r>
            <a:r>
              <a:rPr lang="en-US" sz="1650" b="0" i="0" u="none" strike="noStrike" cap="none">
                <a:solidFill>
                  <a:srgbClr val="CBD5E1"/>
                </a:solidFill>
                <a:latin typeface="Urbanist"/>
                <a:ea typeface="Urbanist"/>
                <a:cs typeface="Urbanist"/>
                <a:sym typeface="Urbanist"/>
              </a:rPr>
              <a:t>.</a:t>
            </a:r>
            <a:endParaRPr/>
          </a:p>
        </p:txBody>
      </p:sp>
      <p:sp>
        <p:nvSpPr>
          <p:cNvPr id="112" name="Google Shape;112;p15"/>
          <p:cNvSpPr txBox="1"/>
          <p:nvPr/>
        </p:nvSpPr>
        <p:spPr>
          <a:xfrm>
            <a:off x="6381750" y="5196482"/>
            <a:ext cx="5238900" cy="6603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1" i="0" u="none" strike="noStrike" cap="none">
                <a:solidFill>
                  <a:srgbClr val="CBD5E1"/>
                </a:solidFill>
                <a:latin typeface="Urbanist"/>
                <a:ea typeface="Urbanist"/>
                <a:cs typeface="Urbanist"/>
                <a:sym typeface="Urbanist"/>
              </a:rPr>
              <a:t>Our solution:</a:t>
            </a:r>
            <a:r>
              <a:rPr lang="en-US" sz="1650" b="0" i="0" u="none" strike="noStrike" cap="none">
                <a:solidFill>
                  <a:srgbClr val="CBD5E1"/>
                </a:solidFill>
                <a:latin typeface="Urbanist"/>
                <a:ea typeface="Urbanist"/>
                <a:cs typeface="Urbanist"/>
                <a:sym typeface="Urbanist"/>
              </a:rPr>
              <a:t> </a:t>
            </a:r>
            <a:r>
              <a:rPr lang="en-US" sz="1650" b="1" i="0" u="none" strike="noStrike" cap="none">
                <a:solidFill>
                  <a:srgbClr val="CBD5E1"/>
                </a:solidFill>
                <a:latin typeface="Urbanist"/>
                <a:ea typeface="Urbanist"/>
                <a:cs typeface="Urbanist"/>
                <a:sym typeface="Urbanist"/>
              </a:rPr>
              <a:t>A</a:t>
            </a:r>
            <a:r>
              <a:rPr lang="en-US" sz="1650" b="0" i="0" u="none" strike="noStrike" cap="none">
                <a:solidFill>
                  <a:srgbClr val="CBD5E1"/>
                </a:solidFill>
                <a:latin typeface="Urbanist"/>
                <a:ea typeface="Urbanist"/>
                <a:cs typeface="Urbanist"/>
                <a:sym typeface="Urbanist"/>
              </a:rPr>
              <a:t> </a:t>
            </a:r>
            <a:r>
              <a:rPr lang="en-US" sz="1650" i="0" u="none" strike="noStrike" cap="none">
                <a:solidFill>
                  <a:schemeClr val="lt1"/>
                </a:solidFill>
                <a:latin typeface="Urbanist SemiBold"/>
                <a:ea typeface="Urbanist SemiBold"/>
                <a:cs typeface="Urbanist SemiBold"/>
                <a:sym typeface="Urbanist SemiBold"/>
              </a:rPr>
              <a:t>fully vectorized, feature-matching</a:t>
            </a:r>
            <a:r>
              <a:rPr lang="en-US" sz="1650" i="0" u="none" strike="noStrike" cap="none">
                <a:solidFill>
                  <a:srgbClr val="CBD5E1"/>
                </a:solidFill>
                <a:latin typeface="Urbanist"/>
                <a:ea typeface="Urbanist"/>
                <a:cs typeface="Urbanist"/>
                <a:sym typeface="Urbanist"/>
              </a:rPr>
              <a:t> </a:t>
            </a:r>
            <a:r>
              <a:rPr lang="en-US" sz="1650" b="1" i="0" u="none" strike="noStrike" cap="none">
                <a:solidFill>
                  <a:srgbClr val="CBD5E1"/>
                </a:solidFill>
                <a:latin typeface="Urbanist"/>
                <a:ea typeface="Urbanist"/>
                <a:cs typeface="Urbanist"/>
                <a:sym typeface="Urbanist"/>
              </a:rPr>
              <a:t>architectur</a:t>
            </a:r>
            <a:r>
              <a:rPr lang="en-US" sz="1650" b="1">
                <a:solidFill>
                  <a:srgbClr val="CBD5E1"/>
                </a:solidFill>
                <a:latin typeface="Urbanist"/>
                <a:ea typeface="Urbanist"/>
                <a:cs typeface="Urbanist"/>
                <a:sym typeface="Urbanist"/>
              </a:rPr>
              <a:t>e</a:t>
            </a:r>
            <a:r>
              <a:rPr lang="en-US" sz="1650" b="1" i="0" u="none" strike="noStrike" cap="none">
                <a:solidFill>
                  <a:srgbClr val="CBD5E1"/>
                </a:solidFill>
                <a:latin typeface="Urbanist"/>
                <a:ea typeface="Urbanist"/>
                <a:cs typeface="Urbanist"/>
                <a:sym typeface="Urbanist"/>
              </a:rPr>
              <a:t>.</a:t>
            </a:r>
            <a:endParaRPr b="1"/>
          </a:p>
        </p:txBody>
      </p:sp>
      <p:sp>
        <p:nvSpPr>
          <p:cNvPr id="113" name="Google Shape;113;p15"/>
          <p:cNvSpPr txBox="1"/>
          <p:nvPr/>
        </p:nvSpPr>
        <p:spPr>
          <a:xfrm>
            <a:off x="6772275" y="3518296"/>
            <a:ext cx="4457700" cy="109716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1350" b="0" i="0" u="none" strike="noStrike" cap="none">
                <a:solidFill>
                  <a:srgbClr val="4ADE80"/>
                </a:solidFill>
                <a:latin typeface="Urbanist SemiBold"/>
                <a:ea typeface="Urbanist SemiBold"/>
                <a:cs typeface="Urbanist SemiBold"/>
                <a:sym typeface="Urbanist SemiBold"/>
              </a:rPr>
              <a:t>Critical Vulnerabilities:</a:t>
            </a:r>
            <a:br>
              <a:rPr lang="en-US" sz="1800" b="0" i="0" u="none" strike="noStrike" cap="none">
                <a:solidFill>
                  <a:schemeClr val="dk1"/>
                </a:solidFill>
                <a:latin typeface="Calibri"/>
                <a:ea typeface="Calibri"/>
                <a:cs typeface="Calibri"/>
                <a:sym typeface="Calibri"/>
              </a:rPr>
            </a:br>
            <a:r>
              <a:rPr lang="en-US" sz="1350" b="0" i="0" u="none" strike="noStrike" cap="none">
                <a:solidFill>
                  <a:srgbClr val="CBD5E1"/>
                </a:solidFill>
                <a:latin typeface="Urbanist"/>
                <a:ea typeface="Urbanist"/>
                <a:cs typeface="Urbanist"/>
                <a:sym typeface="Urbanist"/>
              </a:rPr>
              <a:t> • Susceptibility to sudden illumination shifts.</a:t>
            </a:r>
            <a:br>
              <a:rPr lang="en-US" sz="1800" b="0" i="0" u="none" strike="noStrike" cap="none">
                <a:solidFill>
                  <a:schemeClr val="dk1"/>
                </a:solidFill>
                <a:latin typeface="Calibri"/>
                <a:ea typeface="Calibri"/>
                <a:cs typeface="Calibri"/>
                <a:sym typeface="Calibri"/>
              </a:rPr>
            </a:br>
            <a:r>
              <a:rPr lang="en-US" sz="1350" b="0" i="0" u="none" strike="noStrike" cap="none">
                <a:solidFill>
                  <a:srgbClr val="CBD5E1"/>
                </a:solidFill>
                <a:latin typeface="Urbanist"/>
                <a:ea typeface="Urbanist"/>
                <a:cs typeface="Urbanist"/>
                <a:sym typeface="Urbanist"/>
              </a:rPr>
              <a:t> • Lack of analytical transparency.</a:t>
            </a:r>
            <a:br>
              <a:rPr lang="en-US" sz="1800" b="0" i="0" u="none" strike="noStrike" cap="none">
                <a:solidFill>
                  <a:schemeClr val="dk1"/>
                </a:solidFill>
                <a:latin typeface="Calibri"/>
                <a:ea typeface="Calibri"/>
                <a:cs typeface="Calibri"/>
                <a:sym typeface="Calibri"/>
              </a:rPr>
            </a:br>
            <a:r>
              <a:rPr lang="en-US" sz="1350" b="0" i="0" u="none" strike="noStrike" cap="none">
                <a:solidFill>
                  <a:srgbClr val="CBD5E1"/>
                </a:solidFill>
                <a:latin typeface="Urbanist"/>
                <a:ea typeface="Urbanist"/>
                <a:cs typeface="Urbanist"/>
                <a:sym typeface="Urbanist"/>
              </a:rPr>
              <a:t> • High sensitivity to perspective distortions.</a:t>
            </a:r>
            <a:endParaRPr/>
          </a:p>
        </p:txBody>
      </p:sp>
      <p:sp>
        <p:nvSpPr>
          <p:cNvPr id="114" name="Google Shape;114;p15"/>
          <p:cNvSpPr txBox="1"/>
          <p:nvPr/>
        </p:nvSpPr>
        <p:spPr>
          <a:xfrm>
            <a:off x="762000" y="571500"/>
            <a:ext cx="11401500" cy="554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a:solidFill>
                  <a:srgbClr val="22C55E"/>
                </a:solidFill>
                <a:latin typeface="Urbanist SemiBold"/>
                <a:ea typeface="Urbanist SemiBold"/>
                <a:cs typeface="Urbanist SemiBold"/>
                <a:sym typeface="Urbanist SemiBold"/>
              </a:rPr>
              <a:t>MPC solution in source paper - KLT</a:t>
            </a:r>
            <a:endParaRPr/>
          </a:p>
        </p:txBody>
      </p:sp>
      <p:sp>
        <p:nvSpPr>
          <p:cNvPr id="115" name="Google Shape;115;p15"/>
          <p:cNvSpPr/>
          <p:nvPr/>
        </p:nvSpPr>
        <p:spPr>
          <a:xfrm>
            <a:off x="571500" y="571500"/>
            <a:ext cx="57150" cy="552450"/>
          </a:xfrm>
          <a:prstGeom prst="rect">
            <a:avLst/>
          </a:prstGeom>
          <a:solidFill>
            <a:srgbClr val="22C55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16" name="Google Shape;116;p15"/>
          <p:cNvPicPr preferRelativeResize="0"/>
          <p:nvPr/>
        </p:nvPicPr>
        <p:blipFill>
          <a:blip r:embed="rId5">
            <a:alphaModFix/>
          </a:blip>
          <a:stretch>
            <a:fillRect/>
          </a:stretch>
        </p:blipFill>
        <p:spPr>
          <a:xfrm>
            <a:off x="571425" y="2202913"/>
            <a:ext cx="5238900" cy="3385613"/>
          </a:xfrm>
          <a:prstGeom prst="rect">
            <a:avLst/>
          </a:prstGeom>
          <a:noFill/>
          <a:ln>
            <a:noFill/>
          </a:ln>
        </p:spPr>
      </p:pic>
      <p:sp>
        <p:nvSpPr>
          <p:cNvPr id="117" name="Google Shape;117;p15"/>
          <p:cNvSpPr txBox="1"/>
          <p:nvPr/>
        </p:nvSpPr>
        <p:spPr>
          <a:xfrm>
            <a:off x="628650" y="5644775"/>
            <a:ext cx="55557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3200">
                <a:solidFill>
                  <a:schemeClr val="dk1"/>
                </a:solidFill>
                <a:latin typeface="Calibri"/>
                <a:ea typeface="Calibri"/>
                <a:cs typeface="Calibri"/>
                <a:sym typeface="Calibri"/>
              </a:rPr>
              <a:t>[</a:t>
            </a:r>
            <a:r>
              <a:rPr lang="en-US" sz="3200">
                <a:solidFill>
                  <a:schemeClr val="lt1"/>
                </a:solidFill>
                <a:latin typeface="Calibri"/>
                <a:ea typeface="Calibri"/>
                <a:cs typeface="Calibri"/>
                <a:sym typeface="Calibri"/>
              </a:rPr>
              <a:t>[2]</a:t>
            </a:r>
            <a:endParaRPr sz="3200">
              <a:solidFill>
                <a:schemeClr val="lt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20617"/>
        </a:solidFill>
        <a:effectLst/>
      </p:bgPr>
    </p:bg>
    <p:spTree>
      <p:nvGrpSpPr>
        <p:cNvPr id="1" name="Shape 121"/>
        <p:cNvGrpSpPr/>
        <p:nvPr/>
      </p:nvGrpSpPr>
      <p:grpSpPr>
        <a:xfrm>
          <a:off x="0" y="0"/>
          <a:ext cx="0" cy="0"/>
          <a:chOff x="0" y="0"/>
          <a:chExt cx="0" cy="0"/>
        </a:xfrm>
      </p:grpSpPr>
      <p:pic>
        <p:nvPicPr>
          <p:cNvPr id="122" name="Google Shape;122;p16" descr="image.png"/>
          <p:cNvPicPr preferRelativeResize="0"/>
          <p:nvPr/>
        </p:nvPicPr>
        <p:blipFill rotWithShape="1">
          <a:blip r:embed="rId3">
            <a:alphaModFix/>
          </a:blip>
          <a:srcRect/>
          <a:stretch/>
        </p:blipFill>
        <p:spPr>
          <a:xfrm>
            <a:off x="0" y="12238"/>
            <a:ext cx="12192000" cy="6858000"/>
          </a:xfrm>
          <a:prstGeom prst="rect">
            <a:avLst/>
          </a:prstGeom>
          <a:noFill/>
          <a:ln>
            <a:noFill/>
          </a:ln>
        </p:spPr>
      </p:pic>
      <p:sp>
        <p:nvSpPr>
          <p:cNvPr id="123" name="Google Shape;123;p16"/>
          <p:cNvSpPr txBox="1"/>
          <p:nvPr/>
        </p:nvSpPr>
        <p:spPr>
          <a:xfrm>
            <a:off x="943225" y="762000"/>
            <a:ext cx="5400600" cy="1662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a:solidFill>
                  <a:srgbClr val="22C55E"/>
                </a:solidFill>
                <a:latin typeface="Urbanist SemiBold"/>
                <a:ea typeface="Urbanist SemiBold"/>
                <a:cs typeface="Urbanist SemiBold"/>
                <a:sym typeface="Urbanist SemiBold"/>
              </a:rPr>
              <a:t>Stage 1 - Feature</a:t>
            </a:r>
            <a:endParaRPr sz="3600">
              <a:solidFill>
                <a:srgbClr val="22C55E"/>
              </a:solidFill>
              <a:latin typeface="Urbanist SemiBold"/>
              <a:ea typeface="Urbanist SemiBold"/>
              <a:cs typeface="Urbanist SemiBold"/>
              <a:sym typeface="Urbanist SemiBold"/>
            </a:endParaRPr>
          </a:p>
          <a:p>
            <a:pPr marL="0" marR="0" lvl="0" indent="0" algn="l" rtl="0">
              <a:spcBef>
                <a:spcPts val="0"/>
              </a:spcBef>
              <a:spcAft>
                <a:spcPts val="0"/>
              </a:spcAft>
              <a:buNone/>
            </a:pPr>
            <a:r>
              <a:rPr lang="en-US" sz="3600">
                <a:solidFill>
                  <a:srgbClr val="22C55E"/>
                </a:solidFill>
                <a:latin typeface="Urbanist SemiBold"/>
                <a:ea typeface="Urbanist SemiBold"/>
                <a:cs typeface="Urbanist SemiBold"/>
                <a:sym typeface="Urbanist SemiBold"/>
              </a:rPr>
              <a:t> point extraction</a:t>
            </a:r>
            <a:endParaRPr sz="3600">
              <a:solidFill>
                <a:srgbClr val="22C55E"/>
              </a:solidFill>
              <a:latin typeface="Urbanist SemiBold"/>
              <a:ea typeface="Urbanist SemiBold"/>
              <a:cs typeface="Urbanist SemiBold"/>
              <a:sym typeface="Urbanist SemiBold"/>
            </a:endParaRPr>
          </a:p>
          <a:p>
            <a:pPr marL="0" marR="0" lvl="0" indent="0" algn="l" rtl="0">
              <a:spcBef>
                <a:spcPts val="0"/>
              </a:spcBef>
              <a:spcAft>
                <a:spcPts val="0"/>
              </a:spcAft>
              <a:buNone/>
            </a:pPr>
            <a:r>
              <a:rPr lang="en-US" sz="3600">
                <a:solidFill>
                  <a:srgbClr val="22C55E"/>
                </a:solidFill>
                <a:latin typeface="Urbanist SemiBold"/>
                <a:ea typeface="Urbanist SemiBold"/>
                <a:cs typeface="Urbanist SemiBold"/>
                <a:sym typeface="Urbanist SemiBold"/>
              </a:rPr>
              <a:t> and description</a:t>
            </a:r>
            <a:endParaRPr sz="3600">
              <a:solidFill>
                <a:srgbClr val="22C55E"/>
              </a:solidFill>
              <a:latin typeface="Urbanist SemiBold"/>
              <a:ea typeface="Urbanist SemiBold"/>
              <a:cs typeface="Urbanist SemiBold"/>
              <a:sym typeface="Urbanist SemiBold"/>
            </a:endParaRPr>
          </a:p>
        </p:txBody>
      </p:sp>
      <p:sp>
        <p:nvSpPr>
          <p:cNvPr id="124" name="Google Shape;124;p16"/>
          <p:cNvSpPr/>
          <p:nvPr/>
        </p:nvSpPr>
        <p:spPr>
          <a:xfrm>
            <a:off x="762000" y="762000"/>
            <a:ext cx="57300" cy="1104900"/>
          </a:xfrm>
          <a:prstGeom prst="rect">
            <a:avLst/>
          </a:prstGeom>
          <a:solidFill>
            <a:srgbClr val="22C55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25" name="Google Shape;125;p16"/>
          <p:cNvPicPr preferRelativeResize="0"/>
          <p:nvPr/>
        </p:nvPicPr>
        <p:blipFill>
          <a:blip r:embed="rId4">
            <a:alphaModFix/>
          </a:blip>
          <a:stretch>
            <a:fillRect/>
          </a:stretch>
        </p:blipFill>
        <p:spPr>
          <a:xfrm>
            <a:off x="4819025" y="694700"/>
            <a:ext cx="6552675" cy="56266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20617"/>
        </a:solidFill>
        <a:effectLst/>
      </p:bgPr>
    </p:bg>
    <p:spTree>
      <p:nvGrpSpPr>
        <p:cNvPr id="1" name="Shape 129"/>
        <p:cNvGrpSpPr/>
        <p:nvPr/>
      </p:nvGrpSpPr>
      <p:grpSpPr>
        <a:xfrm>
          <a:off x="0" y="0"/>
          <a:ext cx="0" cy="0"/>
          <a:chOff x="0" y="0"/>
          <a:chExt cx="0" cy="0"/>
        </a:xfrm>
      </p:grpSpPr>
      <p:pic>
        <p:nvPicPr>
          <p:cNvPr id="130" name="Google Shape;130;p17"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31" name="Google Shape;131;p17" descr="image.png"/>
          <p:cNvPicPr preferRelativeResize="0"/>
          <p:nvPr/>
        </p:nvPicPr>
        <p:blipFill rotWithShape="1">
          <a:blip r:embed="rId4">
            <a:alphaModFix/>
          </a:blip>
          <a:srcRect/>
          <a:stretch/>
        </p:blipFill>
        <p:spPr>
          <a:xfrm>
            <a:off x="6381750" y="2159644"/>
            <a:ext cx="5238750" cy="3472011"/>
          </a:xfrm>
          <a:prstGeom prst="rect">
            <a:avLst/>
          </a:prstGeom>
          <a:noFill/>
          <a:ln>
            <a:noFill/>
          </a:ln>
        </p:spPr>
      </p:pic>
      <p:sp>
        <p:nvSpPr>
          <p:cNvPr id="132" name="Google Shape;132;p17"/>
          <p:cNvSpPr txBox="1"/>
          <p:nvPr/>
        </p:nvSpPr>
        <p:spPr>
          <a:xfrm>
            <a:off x="571500" y="2159644"/>
            <a:ext cx="5500687" cy="3238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94A3B8"/>
                </a:solidFill>
                <a:latin typeface="Urbanist"/>
                <a:ea typeface="Urbanist"/>
                <a:cs typeface="Urbanist"/>
                <a:sym typeface="Urbanist"/>
              </a:rPr>
              <a:t>Dual-Stage Filtering</a:t>
            </a:r>
            <a:endParaRPr/>
          </a:p>
        </p:txBody>
      </p:sp>
      <p:sp>
        <p:nvSpPr>
          <p:cNvPr id="133" name="Google Shape;133;p17"/>
          <p:cNvSpPr txBox="1"/>
          <p:nvPr/>
        </p:nvSpPr>
        <p:spPr>
          <a:xfrm>
            <a:off x="6772275" y="3369319"/>
            <a:ext cx="4680600" cy="323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dirty="0">
                <a:solidFill>
                  <a:srgbClr val="94A3B8"/>
                </a:solidFill>
                <a:latin typeface="Urbanist"/>
                <a:ea typeface="Urbanist"/>
                <a:cs typeface="Urbanist"/>
                <a:sym typeface="Urbanist"/>
              </a:rPr>
              <a:t>Vectorized Computation</a:t>
            </a:r>
            <a:endParaRPr dirty="0"/>
          </a:p>
        </p:txBody>
      </p:sp>
      <p:sp>
        <p:nvSpPr>
          <p:cNvPr id="134" name="Google Shape;134;p17"/>
          <p:cNvSpPr txBox="1"/>
          <p:nvPr/>
        </p:nvSpPr>
        <p:spPr>
          <a:xfrm>
            <a:off x="6772275" y="3883669"/>
            <a:ext cx="4457700" cy="162506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dirty="0">
                <a:solidFill>
                  <a:srgbClr val="CBD5E1"/>
                </a:solidFill>
                <a:latin typeface="Urbanist"/>
                <a:ea typeface="Urbanist"/>
                <a:cs typeface="Urbanist"/>
                <a:sym typeface="Urbanist"/>
              </a:rPr>
              <a:t>eliminated slow Python loops through native array broadcasting, enabling concurrent processing of thousands of visual features to maintain real-time navigation feedback. </a:t>
            </a:r>
            <a:endParaRPr dirty="0"/>
          </a:p>
        </p:txBody>
      </p:sp>
      <p:pic>
        <p:nvPicPr>
          <p:cNvPr id="135" name="Google Shape;135;p17" descr="image.png"/>
          <p:cNvPicPr preferRelativeResize="0"/>
          <p:nvPr/>
        </p:nvPicPr>
        <p:blipFill rotWithShape="1">
          <a:blip r:embed="rId5">
            <a:alphaModFix/>
          </a:blip>
          <a:srcRect/>
          <a:stretch/>
        </p:blipFill>
        <p:spPr>
          <a:xfrm>
            <a:off x="6772275" y="2588269"/>
            <a:ext cx="476250" cy="476250"/>
          </a:xfrm>
          <a:prstGeom prst="rect">
            <a:avLst/>
          </a:prstGeom>
          <a:noFill/>
          <a:ln>
            <a:noFill/>
          </a:ln>
        </p:spPr>
      </p:pic>
      <p:sp>
        <p:nvSpPr>
          <p:cNvPr id="136" name="Google Shape;136;p17"/>
          <p:cNvSpPr txBox="1"/>
          <p:nvPr/>
        </p:nvSpPr>
        <p:spPr>
          <a:xfrm>
            <a:off x="952500" y="2673994"/>
            <a:ext cx="4857750" cy="67032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a:solidFill>
                  <a:srgbClr val="4ADE80"/>
                </a:solidFill>
                <a:latin typeface="Urbanist SemiBold"/>
                <a:ea typeface="Urbanist SemiBold"/>
                <a:cs typeface="Urbanist SemiBold"/>
                <a:sym typeface="Urbanist SemiBold"/>
              </a:rPr>
              <a:t>FAST Detection:</a:t>
            </a:r>
            <a:r>
              <a:rPr lang="en-US" sz="1650" b="0" i="0" u="none" strike="noStrike" cap="none">
                <a:solidFill>
                  <a:srgbClr val="CBD5E1"/>
                </a:solidFill>
                <a:latin typeface="Urbanist"/>
                <a:ea typeface="Urbanist"/>
                <a:cs typeface="Urbanist"/>
                <a:sym typeface="Urbanist"/>
              </a:rPr>
              <a:t> High-speed pixel contrast analysis on a 16-pixel ring.</a:t>
            </a:r>
            <a:endParaRPr/>
          </a:p>
        </p:txBody>
      </p:sp>
      <p:sp>
        <p:nvSpPr>
          <p:cNvPr id="137" name="Google Shape;137;p17"/>
          <p:cNvSpPr txBox="1"/>
          <p:nvPr/>
        </p:nvSpPr>
        <p:spPr>
          <a:xfrm>
            <a:off x="952500" y="3534816"/>
            <a:ext cx="4857750" cy="1005482"/>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a:solidFill>
                  <a:srgbClr val="4ADE80"/>
                </a:solidFill>
                <a:latin typeface="Urbanist SemiBold"/>
                <a:ea typeface="Urbanist SemiBold"/>
                <a:cs typeface="Urbanist SemiBold"/>
                <a:sym typeface="Urbanist SemiBold"/>
              </a:rPr>
              <a:t>Harris Corner Measure:</a:t>
            </a:r>
            <a:r>
              <a:rPr lang="en-US" sz="1650" b="0" i="0" u="none" strike="noStrike" cap="none">
                <a:solidFill>
                  <a:srgbClr val="CBD5E1"/>
                </a:solidFill>
                <a:latin typeface="Urbanist"/>
                <a:ea typeface="Urbanist"/>
                <a:cs typeface="Urbanist"/>
                <a:sym typeface="Urbanist"/>
              </a:rPr>
              <a:t> Scoring keypoints via structural tensor response to ensure geometric invariance.</a:t>
            </a:r>
            <a:endParaRPr/>
          </a:p>
        </p:txBody>
      </p:sp>
      <p:sp>
        <p:nvSpPr>
          <p:cNvPr id="138" name="Google Shape;138;p17"/>
          <p:cNvSpPr txBox="1"/>
          <p:nvPr/>
        </p:nvSpPr>
        <p:spPr>
          <a:xfrm>
            <a:off x="762000" y="571500"/>
            <a:ext cx="11401500" cy="554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dirty="0">
                <a:solidFill>
                  <a:srgbClr val="22C55E"/>
                </a:solidFill>
                <a:latin typeface="Urbanist SemiBold"/>
                <a:ea typeface="Urbanist SemiBold"/>
                <a:cs typeface="Urbanist SemiBold"/>
                <a:sym typeface="Urbanist SemiBold"/>
              </a:rPr>
              <a:t>Feature point detection</a:t>
            </a:r>
            <a:endParaRPr sz="3600" dirty="0">
              <a:solidFill>
                <a:srgbClr val="22C55E"/>
              </a:solidFill>
              <a:latin typeface="Urbanist SemiBold"/>
              <a:ea typeface="Urbanist SemiBold"/>
              <a:cs typeface="Urbanist SemiBold"/>
              <a:sym typeface="Urbanist SemiBold"/>
            </a:endParaRPr>
          </a:p>
        </p:txBody>
      </p:sp>
      <p:sp>
        <p:nvSpPr>
          <p:cNvPr id="139" name="Google Shape;139;p17"/>
          <p:cNvSpPr/>
          <p:nvPr/>
        </p:nvSpPr>
        <p:spPr>
          <a:xfrm>
            <a:off x="571500" y="571500"/>
            <a:ext cx="57150" cy="552450"/>
          </a:xfrm>
          <a:prstGeom prst="rect">
            <a:avLst/>
          </a:prstGeom>
          <a:solidFill>
            <a:srgbClr val="22C55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20617"/>
        </a:solidFill>
        <a:effectLst/>
      </p:bgPr>
    </p:bg>
    <p:spTree>
      <p:nvGrpSpPr>
        <p:cNvPr id="1" name="Shape 143"/>
        <p:cNvGrpSpPr/>
        <p:nvPr/>
      </p:nvGrpSpPr>
      <p:grpSpPr>
        <a:xfrm>
          <a:off x="0" y="0"/>
          <a:ext cx="0" cy="0"/>
          <a:chOff x="0" y="0"/>
          <a:chExt cx="0" cy="0"/>
        </a:xfrm>
      </p:grpSpPr>
      <p:pic>
        <p:nvPicPr>
          <p:cNvPr id="144" name="Google Shape;144;p18"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45" name="Google Shape;145;p18" descr="image.png"/>
          <p:cNvPicPr preferRelativeResize="0"/>
          <p:nvPr/>
        </p:nvPicPr>
        <p:blipFill rotWithShape="1">
          <a:blip r:embed="rId4">
            <a:alphaModFix/>
          </a:blip>
          <a:srcRect/>
          <a:stretch/>
        </p:blipFill>
        <p:spPr>
          <a:xfrm>
            <a:off x="6381750" y="3455937"/>
            <a:ext cx="5238750" cy="2693193"/>
          </a:xfrm>
          <a:prstGeom prst="rect">
            <a:avLst/>
          </a:prstGeom>
          <a:noFill/>
          <a:ln>
            <a:noFill/>
          </a:ln>
        </p:spPr>
      </p:pic>
      <p:sp>
        <p:nvSpPr>
          <p:cNvPr id="146" name="Google Shape;146;p18"/>
          <p:cNvSpPr txBox="1"/>
          <p:nvPr/>
        </p:nvSpPr>
        <p:spPr>
          <a:xfrm>
            <a:off x="6381750" y="1642318"/>
            <a:ext cx="5500687" cy="3238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94A3B8"/>
                </a:solidFill>
                <a:latin typeface="Urbanist"/>
                <a:ea typeface="Urbanist"/>
                <a:cs typeface="Urbanist"/>
                <a:sym typeface="Urbanist"/>
              </a:rPr>
              <a:t>Grid-Based Suppression</a:t>
            </a:r>
            <a:endParaRPr/>
          </a:p>
        </p:txBody>
      </p:sp>
      <p:sp>
        <p:nvSpPr>
          <p:cNvPr id="147" name="Google Shape;147;p18"/>
          <p:cNvSpPr txBox="1"/>
          <p:nvPr/>
        </p:nvSpPr>
        <p:spPr>
          <a:xfrm>
            <a:off x="6463500" y="2204293"/>
            <a:ext cx="5238900" cy="1066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a:solidFill>
                  <a:srgbClr val="CBD5E1"/>
                </a:solidFill>
                <a:latin typeface="Urbanist"/>
                <a:ea typeface="Urbanist"/>
                <a:cs typeface="Urbanist"/>
                <a:sym typeface="Urbanist"/>
              </a:rPr>
              <a:t>Traditional Non-Maximum Suppression (NMS) exhibits complexity.</a:t>
            </a:r>
            <a:endParaRPr sz="1650" b="0" i="0" u="none" strike="noStrike" cap="none">
              <a:solidFill>
                <a:srgbClr val="CBD5E1"/>
              </a:solidFill>
              <a:latin typeface="Urbanist"/>
              <a:ea typeface="Urbanist"/>
              <a:cs typeface="Urbanist"/>
              <a:sym typeface="Urbanist"/>
            </a:endParaRPr>
          </a:p>
          <a:p>
            <a:pPr marL="0" marR="0" lvl="0" indent="0" algn="l" rtl="0">
              <a:lnSpc>
                <a:spcPct val="160000"/>
              </a:lnSpc>
              <a:spcBef>
                <a:spcPts val="0"/>
              </a:spcBef>
              <a:spcAft>
                <a:spcPts val="0"/>
              </a:spcAft>
              <a:buNone/>
            </a:pPr>
            <a:r>
              <a:rPr lang="en-US" sz="1650" b="0" i="0" u="none" strike="noStrike" cap="none">
                <a:solidFill>
                  <a:srgbClr val="CBD5E1"/>
                </a:solidFill>
                <a:latin typeface="Urbanist"/>
                <a:ea typeface="Urbanist"/>
                <a:cs typeface="Urbanist"/>
                <a:sym typeface="Urbanist"/>
              </a:rPr>
              <a:t> Our system employs </a:t>
            </a:r>
            <a:r>
              <a:rPr lang="en-US" sz="1650" b="0" i="0" u="none" strike="noStrike" cap="none">
                <a:solidFill>
                  <a:srgbClr val="4ADE80"/>
                </a:solidFill>
                <a:latin typeface="Urbanist SemiBold"/>
                <a:ea typeface="Urbanist SemiBold"/>
                <a:cs typeface="Urbanist SemiBold"/>
                <a:sym typeface="Urbanist SemiBold"/>
              </a:rPr>
              <a:t>Grid Bucketing</a:t>
            </a:r>
            <a:r>
              <a:rPr lang="en-US" sz="1650" b="0" i="0" u="none" strike="noStrike" cap="none">
                <a:solidFill>
                  <a:srgbClr val="CBD5E1"/>
                </a:solidFill>
                <a:latin typeface="Urbanist"/>
                <a:ea typeface="Urbanist"/>
                <a:cs typeface="Urbanist"/>
                <a:sym typeface="Urbanist"/>
              </a:rPr>
              <a:t>:</a:t>
            </a:r>
            <a:endParaRPr/>
          </a:p>
        </p:txBody>
      </p:sp>
      <p:sp>
        <p:nvSpPr>
          <p:cNvPr id="148" name="Google Shape;148;p18"/>
          <p:cNvSpPr txBox="1"/>
          <p:nvPr/>
        </p:nvSpPr>
        <p:spPr>
          <a:xfrm>
            <a:off x="7153275" y="3846462"/>
            <a:ext cx="4076700" cy="33516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a:solidFill>
                  <a:srgbClr val="CBD5E1"/>
                </a:solidFill>
                <a:latin typeface="Urbanist"/>
                <a:ea typeface="Urbanist"/>
                <a:cs typeface="Urbanist"/>
                <a:sym typeface="Urbanist"/>
              </a:rPr>
              <a:t>Image is partitioned into discrete pixel cells.</a:t>
            </a:r>
            <a:endParaRPr/>
          </a:p>
        </p:txBody>
      </p:sp>
      <p:sp>
        <p:nvSpPr>
          <p:cNvPr id="149" name="Google Shape;149;p18"/>
          <p:cNvSpPr txBox="1"/>
          <p:nvPr/>
        </p:nvSpPr>
        <p:spPr>
          <a:xfrm>
            <a:off x="7153275" y="4372123"/>
            <a:ext cx="4076700" cy="67032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dirty="0">
                <a:solidFill>
                  <a:srgbClr val="CBD5E1"/>
                </a:solidFill>
                <a:latin typeface="Urbanist"/>
                <a:ea typeface="Urbanist"/>
                <a:cs typeface="Urbanist"/>
                <a:sym typeface="Urbanist"/>
              </a:rPr>
              <a:t>NumPy reduction selects only the max Harris score per cell.</a:t>
            </a:r>
            <a:endParaRPr dirty="0"/>
          </a:p>
        </p:txBody>
      </p:sp>
      <p:sp>
        <p:nvSpPr>
          <p:cNvPr id="150" name="Google Shape;150;p18"/>
          <p:cNvSpPr txBox="1"/>
          <p:nvPr/>
        </p:nvSpPr>
        <p:spPr>
          <a:xfrm>
            <a:off x="7153275" y="5232945"/>
            <a:ext cx="4076700" cy="40626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dirty="0">
                <a:solidFill>
                  <a:srgbClr val="CBD5E1"/>
                </a:solidFill>
                <a:latin typeface="Urbanist"/>
                <a:ea typeface="Urbanist"/>
                <a:cs typeface="Urbanist"/>
                <a:sym typeface="Urbanist"/>
              </a:rPr>
              <a:t>Achieves </a:t>
            </a:r>
            <a:r>
              <a:rPr lang="en-US" sz="1650" b="0" i="0" u="none" strike="noStrike" cap="none" dirty="0">
                <a:solidFill>
                  <a:srgbClr val="4ADE80"/>
                </a:solidFill>
                <a:latin typeface="Urbanist SemiBold"/>
                <a:ea typeface="Urbanist SemiBold"/>
                <a:cs typeface="Urbanist SemiBold"/>
                <a:sym typeface="Urbanist SemiBold"/>
              </a:rPr>
              <a:t>linear complexity </a:t>
            </a:r>
            <a:endParaRPr dirty="0"/>
          </a:p>
        </p:txBody>
      </p:sp>
      <p:pic>
        <p:nvPicPr>
          <p:cNvPr id="151" name="Google Shape;151;p18" descr="image.png"/>
          <p:cNvPicPr preferRelativeResize="0"/>
          <p:nvPr/>
        </p:nvPicPr>
        <p:blipFill rotWithShape="1">
          <a:blip r:embed="rId5">
            <a:alphaModFix/>
          </a:blip>
          <a:srcRect/>
          <a:stretch/>
        </p:blipFill>
        <p:spPr>
          <a:xfrm>
            <a:off x="6772275" y="3894087"/>
            <a:ext cx="228600" cy="247650"/>
          </a:xfrm>
          <a:prstGeom prst="rect">
            <a:avLst/>
          </a:prstGeom>
          <a:noFill/>
          <a:ln>
            <a:noFill/>
          </a:ln>
        </p:spPr>
      </p:pic>
      <p:pic>
        <p:nvPicPr>
          <p:cNvPr id="152" name="Google Shape;152;p18" descr="image.png"/>
          <p:cNvPicPr preferRelativeResize="0"/>
          <p:nvPr/>
        </p:nvPicPr>
        <p:blipFill rotWithShape="1">
          <a:blip r:embed="rId6">
            <a:alphaModFix/>
          </a:blip>
          <a:srcRect/>
          <a:stretch/>
        </p:blipFill>
        <p:spPr>
          <a:xfrm>
            <a:off x="6772275" y="4419748"/>
            <a:ext cx="200025" cy="247650"/>
          </a:xfrm>
          <a:prstGeom prst="rect">
            <a:avLst/>
          </a:prstGeom>
          <a:noFill/>
          <a:ln>
            <a:noFill/>
          </a:ln>
        </p:spPr>
      </p:pic>
      <p:pic>
        <p:nvPicPr>
          <p:cNvPr id="153" name="Google Shape;153;p18" descr="image.png"/>
          <p:cNvPicPr preferRelativeResize="0"/>
          <p:nvPr/>
        </p:nvPicPr>
        <p:blipFill rotWithShape="1">
          <a:blip r:embed="rId7">
            <a:alphaModFix/>
          </a:blip>
          <a:srcRect/>
          <a:stretch/>
        </p:blipFill>
        <p:spPr>
          <a:xfrm>
            <a:off x="6772275" y="5280570"/>
            <a:ext cx="257175" cy="247650"/>
          </a:xfrm>
          <a:prstGeom prst="rect">
            <a:avLst/>
          </a:prstGeom>
          <a:noFill/>
          <a:ln>
            <a:noFill/>
          </a:ln>
        </p:spPr>
      </p:pic>
      <p:pic>
        <p:nvPicPr>
          <p:cNvPr id="154" name="Google Shape;154;p18" descr="image.png"/>
          <p:cNvPicPr preferRelativeResize="0"/>
          <p:nvPr/>
        </p:nvPicPr>
        <p:blipFill rotWithShape="1">
          <a:blip r:embed="rId8">
            <a:alphaModFix/>
          </a:blip>
          <a:srcRect/>
          <a:stretch/>
        </p:blipFill>
        <p:spPr>
          <a:xfrm>
            <a:off x="9812594" y="5368413"/>
            <a:ext cx="560439" cy="203062"/>
          </a:xfrm>
          <a:prstGeom prst="rect">
            <a:avLst/>
          </a:prstGeom>
          <a:noFill/>
          <a:ln>
            <a:noFill/>
          </a:ln>
        </p:spPr>
      </p:pic>
      <p:sp>
        <p:nvSpPr>
          <p:cNvPr id="155" name="Google Shape;155;p18"/>
          <p:cNvSpPr txBox="1"/>
          <p:nvPr/>
        </p:nvSpPr>
        <p:spPr>
          <a:xfrm>
            <a:off x="762000" y="571500"/>
            <a:ext cx="11401500" cy="554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a:solidFill>
                  <a:srgbClr val="22C55E"/>
                </a:solidFill>
                <a:latin typeface="Urbanist SemiBold"/>
                <a:ea typeface="Urbanist SemiBold"/>
                <a:cs typeface="Urbanist SemiBold"/>
                <a:sym typeface="Urbanist SemiBold"/>
              </a:rPr>
              <a:t>Grid-based NMS</a:t>
            </a:r>
            <a:endParaRPr sz="3600">
              <a:solidFill>
                <a:srgbClr val="22C55E"/>
              </a:solidFill>
              <a:latin typeface="Urbanist SemiBold"/>
              <a:ea typeface="Urbanist SemiBold"/>
              <a:cs typeface="Urbanist SemiBold"/>
              <a:sym typeface="Urbanist SemiBold"/>
            </a:endParaRPr>
          </a:p>
        </p:txBody>
      </p:sp>
      <p:sp>
        <p:nvSpPr>
          <p:cNvPr id="156" name="Google Shape;156;p18"/>
          <p:cNvSpPr/>
          <p:nvPr/>
        </p:nvSpPr>
        <p:spPr>
          <a:xfrm>
            <a:off x="571500" y="571500"/>
            <a:ext cx="57150" cy="552450"/>
          </a:xfrm>
          <a:prstGeom prst="rect">
            <a:avLst/>
          </a:prstGeom>
          <a:solidFill>
            <a:srgbClr val="22C55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57" name="Google Shape;157;p18"/>
          <p:cNvPicPr preferRelativeResize="0"/>
          <p:nvPr/>
        </p:nvPicPr>
        <p:blipFill>
          <a:blip r:embed="rId9">
            <a:alphaModFix/>
          </a:blip>
          <a:stretch>
            <a:fillRect/>
          </a:stretch>
        </p:blipFill>
        <p:spPr>
          <a:xfrm>
            <a:off x="11486081" y="2265625"/>
            <a:ext cx="695325" cy="390525"/>
          </a:xfrm>
          <a:prstGeom prst="rect">
            <a:avLst/>
          </a:prstGeom>
          <a:noFill/>
          <a:ln>
            <a:noFill/>
          </a:ln>
        </p:spPr>
      </p:pic>
      <p:pic>
        <p:nvPicPr>
          <p:cNvPr id="158" name="Google Shape;158;p18"/>
          <p:cNvPicPr preferRelativeResize="0"/>
          <p:nvPr/>
        </p:nvPicPr>
        <p:blipFill>
          <a:blip r:embed="rId10">
            <a:alphaModFix/>
          </a:blip>
          <a:stretch>
            <a:fillRect/>
          </a:stretch>
        </p:blipFill>
        <p:spPr>
          <a:xfrm>
            <a:off x="571488" y="2265625"/>
            <a:ext cx="5210175" cy="33813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20617"/>
        </a:solidFill>
        <a:effectLst/>
      </p:bgPr>
    </p:bg>
    <p:spTree>
      <p:nvGrpSpPr>
        <p:cNvPr id="1" name="Shape 162"/>
        <p:cNvGrpSpPr/>
        <p:nvPr/>
      </p:nvGrpSpPr>
      <p:grpSpPr>
        <a:xfrm>
          <a:off x="0" y="0"/>
          <a:ext cx="0" cy="0"/>
          <a:chOff x="0" y="0"/>
          <a:chExt cx="0" cy="0"/>
        </a:xfrm>
      </p:grpSpPr>
      <p:pic>
        <p:nvPicPr>
          <p:cNvPr id="163" name="Google Shape;163;p19"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64" name="Google Shape;164;p19"/>
          <p:cNvSpPr txBox="1"/>
          <p:nvPr/>
        </p:nvSpPr>
        <p:spPr>
          <a:xfrm>
            <a:off x="571500" y="2347317"/>
            <a:ext cx="5500687" cy="3238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94A3B8"/>
                </a:solidFill>
                <a:latin typeface="Urbanist"/>
                <a:ea typeface="Urbanist"/>
                <a:cs typeface="Urbanist"/>
                <a:sym typeface="Urbanist"/>
              </a:rPr>
              <a:t>rBRIEF Descriptors</a:t>
            </a:r>
            <a:endParaRPr/>
          </a:p>
        </p:txBody>
      </p:sp>
      <p:sp>
        <p:nvSpPr>
          <p:cNvPr id="165" name="Google Shape;165;p19"/>
          <p:cNvSpPr txBox="1"/>
          <p:nvPr/>
        </p:nvSpPr>
        <p:spPr>
          <a:xfrm>
            <a:off x="6772275" y="3556992"/>
            <a:ext cx="4680585" cy="3238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94A3B8"/>
                </a:solidFill>
                <a:latin typeface="Urbanist"/>
                <a:ea typeface="Urbanist"/>
                <a:cs typeface="Urbanist"/>
                <a:sym typeface="Urbanist"/>
              </a:rPr>
              <a:t>Centroid Calculation</a:t>
            </a:r>
            <a:endParaRPr/>
          </a:p>
        </p:txBody>
      </p:sp>
      <p:sp>
        <p:nvSpPr>
          <p:cNvPr id="166" name="Google Shape;166;p19"/>
          <p:cNvSpPr txBox="1"/>
          <p:nvPr/>
        </p:nvSpPr>
        <p:spPr>
          <a:xfrm>
            <a:off x="952500" y="2861667"/>
            <a:ext cx="4857900" cy="6603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a:solidFill>
                  <a:srgbClr val="4ADE80"/>
                </a:solidFill>
                <a:latin typeface="Urbanist SemiBold"/>
                <a:ea typeface="Urbanist SemiBold"/>
                <a:cs typeface="Urbanist SemiBold"/>
                <a:sym typeface="Urbanist SemiBold"/>
              </a:rPr>
              <a:t>Intensity Centroid Steering:</a:t>
            </a:r>
            <a:r>
              <a:rPr lang="en-US" sz="1650" b="0" i="0" u="none" strike="noStrike" cap="none">
                <a:solidFill>
                  <a:srgbClr val="CBD5E1"/>
                </a:solidFill>
                <a:latin typeface="Urbanist"/>
                <a:ea typeface="Urbanist"/>
                <a:cs typeface="Urbanist"/>
                <a:sym typeface="Urbanist"/>
              </a:rPr>
              <a:t> Local patch moments guide orientation alignment     .</a:t>
            </a:r>
            <a:endParaRPr/>
          </a:p>
        </p:txBody>
      </p:sp>
      <p:sp>
        <p:nvSpPr>
          <p:cNvPr id="167" name="Google Shape;167;p19"/>
          <p:cNvSpPr txBox="1"/>
          <p:nvPr/>
        </p:nvSpPr>
        <p:spPr>
          <a:xfrm>
            <a:off x="952500" y="3722489"/>
            <a:ext cx="4857750" cy="67032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a:solidFill>
                  <a:srgbClr val="4ADE80"/>
                </a:solidFill>
                <a:latin typeface="Urbanist SemiBold"/>
                <a:ea typeface="Urbanist SemiBold"/>
                <a:cs typeface="Urbanist SemiBold"/>
                <a:sym typeface="Urbanist SemiBold"/>
              </a:rPr>
              <a:t>Batched Transformation:</a:t>
            </a:r>
            <a:r>
              <a:rPr lang="en-US" sz="1650" b="0" i="0" u="none" strike="noStrike" cap="none">
                <a:solidFill>
                  <a:srgbClr val="CBD5E1"/>
                </a:solidFill>
                <a:latin typeface="Urbanist"/>
                <a:ea typeface="Urbanist"/>
                <a:cs typeface="Urbanist"/>
                <a:sym typeface="Urbanist"/>
              </a:rPr>
              <a:t> The 256 pixel-test pairs are rotated simultaneously using (N, 2, 2) tensors.</a:t>
            </a:r>
            <a:endParaRPr/>
          </a:p>
        </p:txBody>
      </p:sp>
      <p:sp>
        <p:nvSpPr>
          <p:cNvPr id="168" name="Google Shape;168;p19"/>
          <p:cNvSpPr txBox="1"/>
          <p:nvPr/>
        </p:nvSpPr>
        <p:spPr>
          <a:xfrm>
            <a:off x="952500" y="4583310"/>
            <a:ext cx="4857900" cy="6603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a:solidFill>
                  <a:srgbClr val="4ADE80"/>
                </a:solidFill>
                <a:latin typeface="Urbanist SemiBold"/>
                <a:ea typeface="Urbanist SemiBold"/>
                <a:cs typeface="Urbanist SemiBold"/>
                <a:sym typeface="Urbanist SemiBold"/>
              </a:rPr>
              <a:t>Result:</a:t>
            </a:r>
            <a:r>
              <a:rPr lang="en-US" sz="1650" b="0" i="0" u="none" strike="noStrike" cap="none">
                <a:solidFill>
                  <a:srgbClr val="CBD5E1"/>
                </a:solidFill>
                <a:latin typeface="Urbanist"/>
                <a:ea typeface="Urbanist"/>
                <a:cs typeface="Urbanist"/>
                <a:sym typeface="Urbanist"/>
              </a:rPr>
              <a:t> Compact 256-bit bitstrings</a:t>
            </a:r>
            <a:r>
              <a:rPr lang="en-US" sz="1650">
                <a:solidFill>
                  <a:srgbClr val="CBD5E1"/>
                </a:solidFill>
                <a:latin typeface="Urbanist"/>
                <a:ea typeface="Urbanist"/>
                <a:cs typeface="Urbanist"/>
                <a:sym typeface="Urbanist"/>
              </a:rPr>
              <a:t> stored as four 64 bit numbers</a:t>
            </a:r>
            <a:r>
              <a:rPr lang="en-US" sz="1650" b="0" i="0" u="none" strike="noStrike" cap="none">
                <a:solidFill>
                  <a:srgbClr val="CBD5E1"/>
                </a:solidFill>
                <a:latin typeface="Urbanist"/>
                <a:ea typeface="Urbanist"/>
                <a:cs typeface="Urbanist"/>
                <a:sym typeface="Urbanist"/>
              </a:rPr>
              <a:t>.</a:t>
            </a:r>
            <a:endParaRPr/>
          </a:p>
        </p:txBody>
      </p:sp>
      <p:pic>
        <p:nvPicPr>
          <p:cNvPr id="169" name="Google Shape;169;p19" descr="image.png"/>
          <p:cNvPicPr preferRelativeResize="0"/>
          <p:nvPr/>
        </p:nvPicPr>
        <p:blipFill rotWithShape="1">
          <a:blip r:embed="rId4">
            <a:alphaModFix/>
          </a:blip>
          <a:srcRect/>
          <a:stretch/>
        </p:blipFill>
        <p:spPr>
          <a:xfrm>
            <a:off x="6772275" y="2775942"/>
            <a:ext cx="476250" cy="476250"/>
          </a:xfrm>
          <a:prstGeom prst="rect">
            <a:avLst/>
          </a:prstGeom>
          <a:noFill/>
          <a:ln>
            <a:noFill/>
          </a:ln>
        </p:spPr>
      </p:pic>
      <p:pic>
        <p:nvPicPr>
          <p:cNvPr id="170" name="Google Shape;170;p19" descr="image.png"/>
          <p:cNvPicPr preferRelativeResize="0"/>
          <p:nvPr/>
        </p:nvPicPr>
        <p:blipFill rotWithShape="1">
          <a:blip r:embed="rId5">
            <a:alphaModFix/>
          </a:blip>
          <a:srcRect/>
          <a:stretch/>
        </p:blipFill>
        <p:spPr>
          <a:xfrm>
            <a:off x="7058025" y="4357092"/>
            <a:ext cx="3886200" cy="251668"/>
          </a:xfrm>
          <a:prstGeom prst="rect">
            <a:avLst/>
          </a:prstGeom>
          <a:noFill/>
          <a:ln>
            <a:noFill/>
          </a:ln>
        </p:spPr>
      </p:pic>
      <p:pic>
        <p:nvPicPr>
          <p:cNvPr id="171" name="Google Shape;171;p19" descr="image.png"/>
          <p:cNvPicPr preferRelativeResize="0"/>
          <p:nvPr/>
        </p:nvPicPr>
        <p:blipFill rotWithShape="1">
          <a:blip r:embed="rId6">
            <a:alphaModFix/>
          </a:blip>
          <a:srcRect/>
          <a:stretch/>
        </p:blipFill>
        <p:spPr>
          <a:xfrm>
            <a:off x="3523550" y="3252198"/>
            <a:ext cx="177778" cy="251650"/>
          </a:xfrm>
          <a:prstGeom prst="rect">
            <a:avLst/>
          </a:prstGeom>
          <a:noFill/>
          <a:ln>
            <a:noFill/>
          </a:ln>
        </p:spPr>
      </p:pic>
      <p:sp>
        <p:nvSpPr>
          <p:cNvPr id="172" name="Google Shape;172;p19"/>
          <p:cNvSpPr txBox="1"/>
          <p:nvPr/>
        </p:nvSpPr>
        <p:spPr>
          <a:xfrm>
            <a:off x="761925" y="622600"/>
            <a:ext cx="11401500" cy="554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0" i="0" u="none" strike="noStrike" cap="none">
                <a:solidFill>
                  <a:srgbClr val="22C55E"/>
                </a:solidFill>
                <a:latin typeface="Urbanist SemiBold"/>
                <a:ea typeface="Urbanist SemiBold"/>
                <a:cs typeface="Urbanist SemiBold"/>
                <a:sym typeface="Urbanist SemiBold"/>
              </a:rPr>
              <a:t>R</a:t>
            </a:r>
            <a:r>
              <a:rPr lang="en-US" sz="3600">
                <a:solidFill>
                  <a:srgbClr val="22C55E"/>
                </a:solidFill>
                <a:latin typeface="Urbanist SemiBold"/>
                <a:ea typeface="Urbanist SemiBold"/>
                <a:cs typeface="Urbanist SemiBold"/>
                <a:sym typeface="Urbanist SemiBold"/>
              </a:rPr>
              <a:t>otational invariance</a:t>
            </a:r>
            <a:endParaRPr/>
          </a:p>
        </p:txBody>
      </p:sp>
      <p:sp>
        <p:nvSpPr>
          <p:cNvPr id="173" name="Google Shape;173;p19"/>
          <p:cNvSpPr/>
          <p:nvPr/>
        </p:nvSpPr>
        <p:spPr>
          <a:xfrm>
            <a:off x="571500" y="571500"/>
            <a:ext cx="57150" cy="552450"/>
          </a:xfrm>
          <a:prstGeom prst="rect">
            <a:avLst/>
          </a:prstGeom>
          <a:solidFill>
            <a:srgbClr val="22C55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74" name="Google Shape;174;p19"/>
          <p:cNvPicPr preferRelativeResize="0"/>
          <p:nvPr/>
        </p:nvPicPr>
        <p:blipFill>
          <a:blip r:embed="rId7">
            <a:alphaModFix/>
          </a:blip>
          <a:stretch>
            <a:fillRect/>
          </a:stretch>
        </p:blipFill>
        <p:spPr>
          <a:xfrm>
            <a:off x="6285225" y="1556387"/>
            <a:ext cx="5060825" cy="4712475"/>
          </a:xfrm>
          <a:prstGeom prst="rect">
            <a:avLst/>
          </a:prstGeom>
          <a:noFill/>
          <a:ln>
            <a:noFill/>
          </a:ln>
        </p:spPr>
      </p:pic>
      <p:pic>
        <p:nvPicPr>
          <p:cNvPr id="175" name="Google Shape;175;p19" descr="image.png"/>
          <p:cNvPicPr preferRelativeResize="0"/>
          <p:nvPr/>
        </p:nvPicPr>
        <p:blipFill rotWithShape="1">
          <a:blip r:embed="rId6">
            <a:alphaModFix/>
          </a:blip>
          <a:srcRect/>
          <a:stretch/>
        </p:blipFill>
        <p:spPr>
          <a:xfrm>
            <a:off x="7335550" y="5624698"/>
            <a:ext cx="177778" cy="251650"/>
          </a:xfrm>
          <a:prstGeom prst="rect">
            <a:avLst/>
          </a:prstGeom>
          <a:noFill/>
          <a:ln>
            <a:noFill/>
          </a:ln>
        </p:spPr>
      </p:pic>
      <p:pic>
        <p:nvPicPr>
          <p:cNvPr id="176" name="Google Shape;176;p19"/>
          <p:cNvPicPr preferRelativeResize="0"/>
          <p:nvPr/>
        </p:nvPicPr>
        <p:blipFill>
          <a:blip r:embed="rId8">
            <a:alphaModFix/>
          </a:blip>
          <a:stretch>
            <a:fillRect/>
          </a:stretch>
        </p:blipFill>
        <p:spPr>
          <a:xfrm>
            <a:off x="8013850" y="5341497"/>
            <a:ext cx="103325" cy="172950"/>
          </a:xfrm>
          <a:prstGeom prst="rect">
            <a:avLst/>
          </a:prstGeom>
          <a:noFill/>
          <a:ln>
            <a:noFill/>
          </a:ln>
        </p:spPr>
      </p:pic>
      <p:pic>
        <p:nvPicPr>
          <p:cNvPr id="177" name="Google Shape;177;p19"/>
          <p:cNvPicPr preferRelativeResize="0"/>
          <p:nvPr/>
        </p:nvPicPr>
        <p:blipFill>
          <a:blip r:embed="rId9">
            <a:alphaModFix/>
          </a:blip>
          <a:stretch>
            <a:fillRect/>
          </a:stretch>
        </p:blipFill>
        <p:spPr>
          <a:xfrm>
            <a:off x="952500" y="5579350"/>
            <a:ext cx="2552700" cy="5334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20617"/>
        </a:solidFill>
        <a:effectLst/>
      </p:bgPr>
    </p:bg>
    <p:spTree>
      <p:nvGrpSpPr>
        <p:cNvPr id="1" name="Shape 181"/>
        <p:cNvGrpSpPr/>
        <p:nvPr/>
      </p:nvGrpSpPr>
      <p:grpSpPr>
        <a:xfrm>
          <a:off x="0" y="0"/>
          <a:ext cx="0" cy="0"/>
          <a:chOff x="0" y="0"/>
          <a:chExt cx="0" cy="0"/>
        </a:xfrm>
      </p:grpSpPr>
      <p:pic>
        <p:nvPicPr>
          <p:cNvPr id="182" name="Google Shape;182;p20" descr="image.png"/>
          <p:cNvPicPr preferRelativeResize="0"/>
          <p:nvPr/>
        </p:nvPicPr>
        <p:blipFill rotWithShape="1">
          <a:blip r:embed="rId3">
            <a:alphaModFix/>
          </a:blip>
          <a:srcRect/>
          <a:stretch/>
        </p:blipFill>
        <p:spPr>
          <a:xfrm>
            <a:off x="0" y="-12"/>
            <a:ext cx="12192000" cy="6858000"/>
          </a:xfrm>
          <a:prstGeom prst="rect">
            <a:avLst/>
          </a:prstGeom>
          <a:noFill/>
          <a:ln>
            <a:noFill/>
          </a:ln>
        </p:spPr>
      </p:pic>
      <p:sp>
        <p:nvSpPr>
          <p:cNvPr id="183" name="Google Shape;183;p20"/>
          <p:cNvSpPr txBox="1"/>
          <p:nvPr/>
        </p:nvSpPr>
        <p:spPr>
          <a:xfrm>
            <a:off x="1066475" y="190500"/>
            <a:ext cx="5400600" cy="1108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a:solidFill>
                  <a:srgbClr val="22C55E"/>
                </a:solidFill>
                <a:latin typeface="Urbanist SemiBold"/>
                <a:ea typeface="Urbanist SemiBold"/>
                <a:cs typeface="Urbanist SemiBold"/>
                <a:sym typeface="Urbanist SemiBold"/>
              </a:rPr>
              <a:t>Stage 2 - Matching</a:t>
            </a:r>
            <a:endParaRPr sz="3600">
              <a:solidFill>
                <a:srgbClr val="22C55E"/>
              </a:solidFill>
              <a:latin typeface="Urbanist SemiBold"/>
              <a:ea typeface="Urbanist SemiBold"/>
              <a:cs typeface="Urbanist SemiBold"/>
              <a:sym typeface="Urbanist SemiBold"/>
            </a:endParaRPr>
          </a:p>
          <a:p>
            <a:pPr marL="0" marR="0" lvl="0" indent="0" algn="l" rtl="0">
              <a:spcBef>
                <a:spcPts val="0"/>
              </a:spcBef>
              <a:spcAft>
                <a:spcPts val="0"/>
              </a:spcAft>
              <a:buNone/>
            </a:pPr>
            <a:r>
              <a:rPr lang="en-US" sz="3600">
                <a:solidFill>
                  <a:srgbClr val="22C55E"/>
                </a:solidFill>
                <a:latin typeface="Urbanist SemiBold"/>
                <a:ea typeface="Urbanist SemiBold"/>
                <a:cs typeface="Urbanist SemiBold"/>
                <a:sym typeface="Urbanist SemiBold"/>
              </a:rPr>
              <a:t>and motion estimation</a:t>
            </a:r>
            <a:endParaRPr sz="3600">
              <a:solidFill>
                <a:srgbClr val="22C55E"/>
              </a:solidFill>
              <a:latin typeface="Urbanist SemiBold"/>
              <a:ea typeface="Urbanist SemiBold"/>
              <a:cs typeface="Urbanist SemiBold"/>
              <a:sym typeface="Urbanist SemiBold"/>
            </a:endParaRPr>
          </a:p>
        </p:txBody>
      </p:sp>
      <p:sp>
        <p:nvSpPr>
          <p:cNvPr id="184" name="Google Shape;184;p20"/>
          <p:cNvSpPr/>
          <p:nvPr/>
        </p:nvSpPr>
        <p:spPr>
          <a:xfrm>
            <a:off x="752300" y="192150"/>
            <a:ext cx="66900" cy="1104900"/>
          </a:xfrm>
          <a:prstGeom prst="rect">
            <a:avLst/>
          </a:prstGeom>
          <a:solidFill>
            <a:srgbClr val="22C55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85" name="Google Shape;185;p20"/>
          <p:cNvPicPr preferRelativeResize="0"/>
          <p:nvPr/>
        </p:nvPicPr>
        <p:blipFill>
          <a:blip r:embed="rId4">
            <a:alphaModFix/>
          </a:blip>
          <a:stretch>
            <a:fillRect/>
          </a:stretch>
        </p:blipFill>
        <p:spPr>
          <a:xfrm>
            <a:off x="1414750" y="1607575"/>
            <a:ext cx="8649625" cy="43864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20617"/>
        </a:solidFill>
        <a:effectLst/>
      </p:bgPr>
    </p:bg>
    <p:spTree>
      <p:nvGrpSpPr>
        <p:cNvPr id="1" name="Shape 189"/>
        <p:cNvGrpSpPr/>
        <p:nvPr/>
      </p:nvGrpSpPr>
      <p:grpSpPr>
        <a:xfrm>
          <a:off x="0" y="0"/>
          <a:ext cx="0" cy="0"/>
          <a:chOff x="0" y="0"/>
          <a:chExt cx="0" cy="0"/>
        </a:xfrm>
      </p:grpSpPr>
      <p:pic>
        <p:nvPicPr>
          <p:cNvPr id="190" name="Google Shape;190;p21"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91" name="Google Shape;191;p21"/>
          <p:cNvSpPr txBox="1"/>
          <p:nvPr/>
        </p:nvSpPr>
        <p:spPr>
          <a:xfrm>
            <a:off x="334100" y="2183392"/>
            <a:ext cx="5500800" cy="323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94A3B8"/>
                </a:solidFill>
                <a:latin typeface="Urbanist"/>
                <a:ea typeface="Urbanist"/>
                <a:cs typeface="Urbanist"/>
                <a:sym typeface="Urbanist"/>
              </a:rPr>
              <a:t>Optimized Hamming Distance</a:t>
            </a:r>
            <a:endParaRPr/>
          </a:p>
        </p:txBody>
      </p:sp>
      <p:sp>
        <p:nvSpPr>
          <p:cNvPr id="192" name="Google Shape;192;p21"/>
          <p:cNvSpPr txBox="1"/>
          <p:nvPr/>
        </p:nvSpPr>
        <p:spPr>
          <a:xfrm>
            <a:off x="465050" y="2917142"/>
            <a:ext cx="5238900" cy="18795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a:solidFill>
                  <a:srgbClr val="CBD5E1"/>
                </a:solidFill>
                <a:latin typeface="Urbanist"/>
                <a:ea typeface="Urbanist"/>
                <a:cs typeface="Urbanist"/>
                <a:sym typeface="Urbanist"/>
              </a:rPr>
              <a:t>Traditional nested loops for distance calculation are the primary bottleneck in Python implementations. Our matcher bypasses this by implementing a 16-bit LUT, which is used to count the Hamming Distance by slicing the 256-bit descriptor into 16-bit segments.</a:t>
            </a:r>
            <a:endParaRPr>
              <a:solidFill>
                <a:schemeClr val="lt1"/>
              </a:solidFill>
            </a:endParaRPr>
          </a:p>
        </p:txBody>
      </p:sp>
      <p:sp>
        <p:nvSpPr>
          <p:cNvPr id="193" name="Google Shape;193;p21"/>
          <p:cNvSpPr txBox="1"/>
          <p:nvPr/>
        </p:nvSpPr>
        <p:spPr>
          <a:xfrm>
            <a:off x="465038" y="4988325"/>
            <a:ext cx="5238900" cy="1066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a:solidFill>
                  <a:srgbClr val="CBD5E1"/>
                </a:solidFill>
                <a:latin typeface="Urbanist"/>
                <a:ea typeface="Urbanist"/>
                <a:cs typeface="Urbanist"/>
                <a:sym typeface="Urbanist"/>
              </a:rPr>
              <a:t>Bitwise XOR operations across broadcasted array dimensions ensure </a:t>
            </a:r>
            <a:r>
              <a:rPr lang="en-US" sz="1650" b="0" i="0" u="none" strike="noStrike" cap="none">
                <a:solidFill>
                  <a:srgbClr val="4ADE80"/>
                </a:solidFill>
                <a:latin typeface="Urbanist SemiBold"/>
                <a:ea typeface="Urbanist SemiBold"/>
                <a:cs typeface="Urbanist SemiBold"/>
                <a:sym typeface="Urbanist SemiBold"/>
              </a:rPr>
              <a:t>real-time performance</a:t>
            </a:r>
            <a:r>
              <a:rPr lang="en-US" sz="1650" b="0" i="0" u="none" strike="noStrike" cap="none">
                <a:solidFill>
                  <a:srgbClr val="CBD5E1"/>
                </a:solidFill>
                <a:latin typeface="Urbanist"/>
                <a:ea typeface="Urbanist"/>
                <a:cs typeface="Urbanist"/>
                <a:sym typeface="Urbanist"/>
              </a:rPr>
              <a:t> on standard CPUs.</a:t>
            </a:r>
            <a:endParaRPr/>
          </a:p>
        </p:txBody>
      </p:sp>
      <p:sp>
        <p:nvSpPr>
          <p:cNvPr id="194" name="Google Shape;194;p21"/>
          <p:cNvSpPr txBox="1"/>
          <p:nvPr/>
        </p:nvSpPr>
        <p:spPr>
          <a:xfrm>
            <a:off x="880275" y="413025"/>
            <a:ext cx="6035400" cy="1662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a:solidFill>
                  <a:srgbClr val="22C55E"/>
                </a:solidFill>
                <a:latin typeface="Urbanist SemiBold"/>
                <a:ea typeface="Urbanist SemiBold"/>
                <a:cs typeface="Urbanist SemiBold"/>
                <a:sym typeface="Urbanist SemiBold"/>
              </a:rPr>
              <a:t>Optimizing Hamming </a:t>
            </a:r>
            <a:endParaRPr sz="3600">
              <a:solidFill>
                <a:srgbClr val="22C55E"/>
              </a:solidFill>
              <a:latin typeface="Urbanist SemiBold"/>
              <a:ea typeface="Urbanist SemiBold"/>
              <a:cs typeface="Urbanist SemiBold"/>
              <a:sym typeface="Urbanist SemiBold"/>
            </a:endParaRPr>
          </a:p>
          <a:p>
            <a:pPr marL="0" marR="0" lvl="0" indent="0" algn="l" rtl="0">
              <a:spcBef>
                <a:spcPts val="0"/>
              </a:spcBef>
              <a:spcAft>
                <a:spcPts val="0"/>
              </a:spcAft>
              <a:buNone/>
            </a:pPr>
            <a:r>
              <a:rPr lang="en-US" sz="3600">
                <a:solidFill>
                  <a:srgbClr val="22C55E"/>
                </a:solidFill>
                <a:latin typeface="Urbanist SemiBold"/>
                <a:ea typeface="Urbanist SemiBold"/>
                <a:cs typeface="Urbanist SemiBold"/>
                <a:sym typeface="Urbanist SemiBold"/>
              </a:rPr>
              <a:t>Distance for computational</a:t>
            </a:r>
            <a:endParaRPr sz="3600">
              <a:solidFill>
                <a:srgbClr val="22C55E"/>
              </a:solidFill>
              <a:latin typeface="Urbanist SemiBold"/>
              <a:ea typeface="Urbanist SemiBold"/>
              <a:cs typeface="Urbanist SemiBold"/>
              <a:sym typeface="Urbanist SemiBold"/>
            </a:endParaRPr>
          </a:p>
          <a:p>
            <a:pPr marL="0" marR="0" lvl="0" indent="0" algn="l" rtl="0">
              <a:spcBef>
                <a:spcPts val="0"/>
              </a:spcBef>
              <a:spcAft>
                <a:spcPts val="0"/>
              </a:spcAft>
              <a:buNone/>
            </a:pPr>
            <a:r>
              <a:rPr lang="en-US" sz="3600">
                <a:solidFill>
                  <a:srgbClr val="22C55E"/>
                </a:solidFill>
                <a:latin typeface="Urbanist SemiBold"/>
                <a:ea typeface="Urbanist SemiBold"/>
                <a:cs typeface="Urbanist SemiBold"/>
                <a:sym typeface="Urbanist SemiBold"/>
              </a:rPr>
              <a:t> efficiency</a:t>
            </a:r>
            <a:endParaRPr/>
          </a:p>
        </p:txBody>
      </p:sp>
      <p:sp>
        <p:nvSpPr>
          <p:cNvPr id="195" name="Google Shape;195;p21"/>
          <p:cNvSpPr/>
          <p:nvPr/>
        </p:nvSpPr>
        <p:spPr>
          <a:xfrm>
            <a:off x="567900" y="571500"/>
            <a:ext cx="60600" cy="1066800"/>
          </a:xfrm>
          <a:prstGeom prst="rect">
            <a:avLst/>
          </a:prstGeom>
          <a:solidFill>
            <a:srgbClr val="22C55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96" name="Google Shape;196;p21"/>
          <p:cNvPicPr preferRelativeResize="0"/>
          <p:nvPr/>
        </p:nvPicPr>
        <p:blipFill>
          <a:blip r:embed="rId4">
            <a:alphaModFix/>
          </a:blip>
          <a:stretch>
            <a:fillRect/>
          </a:stretch>
        </p:blipFill>
        <p:spPr>
          <a:xfrm>
            <a:off x="6244450" y="1980450"/>
            <a:ext cx="5500800" cy="27521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20617"/>
        </a:solidFill>
        <a:effectLst/>
      </p:bgPr>
    </p:bg>
    <p:spTree>
      <p:nvGrpSpPr>
        <p:cNvPr id="1" name="Shape 200"/>
        <p:cNvGrpSpPr/>
        <p:nvPr/>
      </p:nvGrpSpPr>
      <p:grpSpPr>
        <a:xfrm>
          <a:off x="0" y="0"/>
          <a:ext cx="0" cy="0"/>
          <a:chOff x="0" y="0"/>
          <a:chExt cx="0" cy="0"/>
        </a:xfrm>
      </p:grpSpPr>
      <p:sp>
        <p:nvSpPr>
          <p:cNvPr id="201" name="Google Shape;201;p22"/>
          <p:cNvSpPr txBox="1"/>
          <p:nvPr/>
        </p:nvSpPr>
        <p:spPr>
          <a:xfrm>
            <a:off x="739575" y="570675"/>
            <a:ext cx="11401500" cy="554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a:solidFill>
                  <a:srgbClr val="22C55E"/>
                </a:solidFill>
                <a:latin typeface="Urbanist SemiBold"/>
                <a:ea typeface="Urbanist SemiBold"/>
                <a:cs typeface="Urbanist SemiBold"/>
                <a:sym typeface="Urbanist SemiBold"/>
              </a:rPr>
              <a:t>RANSAC filtration results</a:t>
            </a:r>
            <a:endParaRPr sz="3600">
              <a:solidFill>
                <a:srgbClr val="22C55E"/>
              </a:solidFill>
              <a:latin typeface="Urbanist SemiBold"/>
              <a:ea typeface="Urbanist SemiBold"/>
              <a:cs typeface="Urbanist SemiBold"/>
              <a:sym typeface="Urbanist SemiBold"/>
            </a:endParaRPr>
          </a:p>
        </p:txBody>
      </p:sp>
      <p:sp>
        <p:nvSpPr>
          <p:cNvPr id="202" name="Google Shape;202;p22"/>
          <p:cNvSpPr/>
          <p:nvPr/>
        </p:nvSpPr>
        <p:spPr>
          <a:xfrm>
            <a:off x="571500" y="571500"/>
            <a:ext cx="57150" cy="552450"/>
          </a:xfrm>
          <a:prstGeom prst="rect">
            <a:avLst/>
          </a:prstGeom>
          <a:solidFill>
            <a:srgbClr val="22C55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203" name="Google Shape;203;p22"/>
          <p:cNvPicPr preferRelativeResize="0"/>
          <p:nvPr/>
        </p:nvPicPr>
        <p:blipFill>
          <a:blip r:embed="rId3">
            <a:alphaModFix/>
          </a:blip>
          <a:stretch>
            <a:fillRect/>
          </a:stretch>
        </p:blipFill>
        <p:spPr>
          <a:xfrm>
            <a:off x="106561" y="1971950"/>
            <a:ext cx="11978873" cy="36056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20617"/>
        </a:solidFill>
        <a:effectLst/>
      </p:bgPr>
    </p:bg>
    <p:spTree>
      <p:nvGrpSpPr>
        <p:cNvPr id="1" name="Shape 207"/>
        <p:cNvGrpSpPr/>
        <p:nvPr/>
      </p:nvGrpSpPr>
      <p:grpSpPr>
        <a:xfrm>
          <a:off x="0" y="0"/>
          <a:ext cx="0" cy="0"/>
          <a:chOff x="0" y="0"/>
          <a:chExt cx="0" cy="0"/>
        </a:xfrm>
      </p:grpSpPr>
      <p:pic>
        <p:nvPicPr>
          <p:cNvPr id="208" name="Google Shape;208;p23"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09" name="Google Shape;209;p23"/>
          <p:cNvSpPr txBox="1"/>
          <p:nvPr/>
        </p:nvSpPr>
        <p:spPr>
          <a:xfrm>
            <a:off x="952500" y="762000"/>
            <a:ext cx="5400600" cy="554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a:solidFill>
                  <a:srgbClr val="22C55E"/>
                </a:solidFill>
                <a:latin typeface="Urbanist SemiBold"/>
                <a:ea typeface="Urbanist SemiBold"/>
                <a:cs typeface="Urbanist SemiBold"/>
                <a:sym typeface="Urbanist SemiBold"/>
              </a:rPr>
              <a:t>Movement estimation</a:t>
            </a:r>
            <a:endParaRPr sz="3600">
              <a:solidFill>
                <a:srgbClr val="22C55E"/>
              </a:solidFill>
              <a:latin typeface="Urbanist SemiBold"/>
              <a:ea typeface="Urbanist SemiBold"/>
              <a:cs typeface="Urbanist SemiBold"/>
              <a:sym typeface="Urbanist SemiBold"/>
            </a:endParaRPr>
          </a:p>
        </p:txBody>
      </p:sp>
      <p:sp>
        <p:nvSpPr>
          <p:cNvPr id="210" name="Google Shape;210;p23"/>
          <p:cNvSpPr/>
          <p:nvPr/>
        </p:nvSpPr>
        <p:spPr>
          <a:xfrm>
            <a:off x="762000" y="762000"/>
            <a:ext cx="57150" cy="1104900"/>
          </a:xfrm>
          <a:prstGeom prst="rect">
            <a:avLst/>
          </a:prstGeom>
          <a:solidFill>
            <a:srgbClr val="22C55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11" name="Google Shape;211;p23"/>
          <p:cNvSpPr txBox="1"/>
          <p:nvPr/>
        </p:nvSpPr>
        <p:spPr>
          <a:xfrm>
            <a:off x="717175" y="2116338"/>
            <a:ext cx="5334000" cy="1066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a:solidFill>
                  <a:srgbClr val="4ADE80"/>
                </a:solidFill>
                <a:latin typeface="Urbanist SemiBold"/>
                <a:ea typeface="Urbanist SemiBold"/>
                <a:cs typeface="Urbanist SemiBold"/>
                <a:sym typeface="Urbanist SemiBold"/>
              </a:rPr>
              <a:t>RANSAC</a:t>
            </a:r>
            <a:r>
              <a:rPr lang="en-US" sz="1650">
                <a:solidFill>
                  <a:srgbClr val="CBD5E1"/>
                </a:solidFill>
                <a:latin typeface="Urbanist"/>
                <a:ea typeface="Urbanist"/>
                <a:cs typeface="Urbanist"/>
                <a:sym typeface="Urbanist"/>
              </a:rPr>
              <a:t> i</a:t>
            </a:r>
            <a:r>
              <a:rPr lang="en-US" sz="1650" b="0" i="0" u="none" strike="noStrike" cap="none">
                <a:solidFill>
                  <a:srgbClr val="CBD5E1"/>
                </a:solidFill>
                <a:latin typeface="Urbanist"/>
                <a:ea typeface="Urbanist"/>
                <a:cs typeface="Urbanist"/>
                <a:sym typeface="Urbanist"/>
              </a:rPr>
              <a:t>teratively estimates the optimal 2D Homography (H) matrix by maximizing the number of geometrically verified inliers. </a:t>
            </a:r>
            <a:endParaRPr/>
          </a:p>
        </p:txBody>
      </p:sp>
      <p:sp>
        <p:nvSpPr>
          <p:cNvPr id="212" name="Google Shape;212;p23"/>
          <p:cNvSpPr txBox="1"/>
          <p:nvPr/>
        </p:nvSpPr>
        <p:spPr>
          <a:xfrm>
            <a:off x="762000" y="3432571"/>
            <a:ext cx="5334000" cy="1066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a:solidFill>
                  <a:srgbClr val="4ADE80"/>
                </a:solidFill>
                <a:latin typeface="Urbanist SemiBold"/>
                <a:ea typeface="Urbanist SemiBold"/>
                <a:cs typeface="Urbanist SemiBold"/>
                <a:sym typeface="Urbanist SemiBold"/>
              </a:rPr>
              <a:t>Estimated movement: </a:t>
            </a:r>
            <a:r>
              <a:rPr lang="en-US" sz="1650">
                <a:solidFill>
                  <a:srgbClr val="CBD5E1"/>
                </a:solidFill>
                <a:latin typeface="Urbanist"/>
                <a:ea typeface="Urbanist"/>
                <a:cs typeface="Urbanist"/>
                <a:sym typeface="Urbanist"/>
              </a:rPr>
              <a:t>frame-to-frame image displacement is directly extracted from the structural translation indices of the computed H matrix </a:t>
            </a:r>
            <a:r>
              <a:rPr lang="en-US" sz="1650" b="0" i="0" u="none" strike="noStrike" cap="none">
                <a:solidFill>
                  <a:srgbClr val="CBD5E1"/>
                </a:solidFill>
                <a:latin typeface="Urbanist"/>
                <a:ea typeface="Urbanist"/>
                <a:cs typeface="Urbanist"/>
                <a:sym typeface="Urbanist"/>
              </a:rPr>
              <a:t>.</a:t>
            </a:r>
            <a:endParaRPr/>
          </a:p>
        </p:txBody>
      </p:sp>
      <p:pic>
        <p:nvPicPr>
          <p:cNvPr id="213" name="Google Shape;213;p23"/>
          <p:cNvPicPr preferRelativeResize="0"/>
          <p:nvPr/>
        </p:nvPicPr>
        <p:blipFill>
          <a:blip r:embed="rId4">
            <a:alphaModFix/>
          </a:blip>
          <a:stretch>
            <a:fillRect/>
          </a:stretch>
        </p:blipFill>
        <p:spPr>
          <a:xfrm>
            <a:off x="6095997" y="2279528"/>
            <a:ext cx="5619600" cy="22198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20617"/>
        </a:solidFill>
        <a:effectLst/>
      </p:bgPr>
    </p:bg>
    <p:spTree>
      <p:nvGrpSpPr>
        <p:cNvPr id="1" name="Shape 217"/>
        <p:cNvGrpSpPr/>
        <p:nvPr/>
      </p:nvGrpSpPr>
      <p:grpSpPr>
        <a:xfrm>
          <a:off x="0" y="0"/>
          <a:ext cx="0" cy="0"/>
          <a:chOff x="0" y="0"/>
          <a:chExt cx="0" cy="0"/>
        </a:xfrm>
      </p:grpSpPr>
      <p:sp>
        <p:nvSpPr>
          <p:cNvPr id="218" name="Google Shape;218;p24"/>
          <p:cNvSpPr txBox="1"/>
          <p:nvPr/>
        </p:nvSpPr>
        <p:spPr>
          <a:xfrm>
            <a:off x="762000" y="571500"/>
            <a:ext cx="11401500" cy="554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a:solidFill>
                  <a:srgbClr val="22C55E"/>
                </a:solidFill>
                <a:latin typeface="Urbanist SemiBold"/>
                <a:ea typeface="Urbanist SemiBold"/>
                <a:cs typeface="Urbanist SemiBold"/>
                <a:sym typeface="Urbanist SemiBold"/>
              </a:rPr>
              <a:t>Estimated trajectory based on 62 frame snippet</a:t>
            </a:r>
            <a:endParaRPr sz="3600">
              <a:solidFill>
                <a:srgbClr val="22C55E"/>
              </a:solidFill>
              <a:latin typeface="Urbanist SemiBold"/>
              <a:ea typeface="Urbanist SemiBold"/>
              <a:cs typeface="Urbanist SemiBold"/>
              <a:sym typeface="Urbanist SemiBold"/>
            </a:endParaRPr>
          </a:p>
        </p:txBody>
      </p:sp>
      <p:sp>
        <p:nvSpPr>
          <p:cNvPr id="219" name="Google Shape;219;p24"/>
          <p:cNvSpPr/>
          <p:nvPr/>
        </p:nvSpPr>
        <p:spPr>
          <a:xfrm>
            <a:off x="571500" y="571500"/>
            <a:ext cx="57150" cy="552450"/>
          </a:xfrm>
          <a:prstGeom prst="rect">
            <a:avLst/>
          </a:prstGeom>
          <a:solidFill>
            <a:srgbClr val="22C55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220" name="Google Shape;220;p24"/>
          <p:cNvPicPr preferRelativeResize="0"/>
          <p:nvPr/>
        </p:nvPicPr>
        <p:blipFill>
          <a:blip r:embed="rId3">
            <a:alphaModFix/>
          </a:blip>
          <a:stretch>
            <a:fillRect/>
          </a:stretch>
        </p:blipFill>
        <p:spPr>
          <a:xfrm>
            <a:off x="571500" y="1285500"/>
            <a:ext cx="6295650" cy="5023425"/>
          </a:xfrm>
          <a:prstGeom prst="rect">
            <a:avLst/>
          </a:prstGeom>
          <a:noFill/>
          <a:ln>
            <a:noFill/>
          </a:ln>
        </p:spPr>
      </p:pic>
      <p:sp>
        <p:nvSpPr>
          <p:cNvPr id="221" name="Google Shape;221;p24"/>
          <p:cNvSpPr txBox="1"/>
          <p:nvPr/>
        </p:nvSpPr>
        <p:spPr>
          <a:xfrm>
            <a:off x="7318925" y="1879600"/>
            <a:ext cx="3866100" cy="4314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US" sz="1650">
                <a:solidFill>
                  <a:srgbClr val="4ADE80"/>
                </a:solidFill>
                <a:latin typeface="Urbanist SemiBold"/>
                <a:ea typeface="Urbanist SemiBold"/>
                <a:cs typeface="Urbanist SemiBold"/>
                <a:sym typeface="Urbanist SemiBold"/>
              </a:rPr>
              <a:t>Anomaly</a:t>
            </a:r>
            <a:r>
              <a:rPr lang="en-US" sz="1650">
                <a:solidFill>
                  <a:srgbClr val="CBD5E1"/>
                </a:solidFill>
                <a:latin typeface="Urbanist"/>
                <a:ea typeface="Urbanist"/>
                <a:cs typeface="Urbanist"/>
                <a:sym typeface="Urbanist"/>
              </a:rPr>
              <a:t> </a:t>
            </a:r>
            <a:r>
              <a:rPr lang="en-US" sz="1650">
                <a:solidFill>
                  <a:srgbClr val="4ADE80"/>
                </a:solidFill>
                <a:latin typeface="Urbanist SemiBold"/>
                <a:ea typeface="Urbanist SemiBold"/>
                <a:cs typeface="Urbanist SemiBold"/>
                <a:sym typeface="Urbanist SemiBold"/>
              </a:rPr>
              <a:t>protection</a:t>
            </a:r>
            <a:r>
              <a:rPr lang="en-US" sz="1650">
                <a:solidFill>
                  <a:srgbClr val="CBD5E1"/>
                </a:solidFill>
                <a:latin typeface="Urbanist"/>
                <a:ea typeface="Urbanist"/>
                <a:cs typeface="Urbanist"/>
                <a:sym typeface="Urbanist"/>
              </a:rPr>
              <a:t> in the tracking system relies on a two-stage filtering pipeline that verifies raw translation vectors in real time. The algorithm analyzes spatial motion deviations between frames, utilizing a dynamic outlier rejection mechanism and hard mathematical constraints based on standard deviation. Any illogical or abrupt vectors caused by feature matching noise are automatically blocked, ensuring that only stabilized and safe displacement coordinates are fed into the control loop. </a:t>
            </a:r>
            <a:endParaRPr sz="1650">
              <a:solidFill>
                <a:srgbClr val="CBD5E1"/>
              </a:solidFill>
              <a:latin typeface="Urbanist"/>
              <a:ea typeface="Urbanist"/>
              <a:cs typeface="Urbanist"/>
              <a:sym typeface="Urbanis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20617"/>
        </a:solidFill>
        <a:effectLst/>
      </p:bgPr>
    </p:bg>
    <p:spTree>
      <p:nvGrpSpPr>
        <p:cNvPr id="1" name="Shape 225"/>
        <p:cNvGrpSpPr/>
        <p:nvPr/>
      </p:nvGrpSpPr>
      <p:grpSpPr>
        <a:xfrm>
          <a:off x="0" y="0"/>
          <a:ext cx="0" cy="0"/>
          <a:chOff x="0" y="0"/>
          <a:chExt cx="0" cy="0"/>
        </a:xfrm>
      </p:grpSpPr>
      <p:pic>
        <p:nvPicPr>
          <p:cNvPr id="226" name="Google Shape;226;p25" descr="image.png"/>
          <p:cNvPicPr preferRelativeResize="0"/>
          <p:nvPr/>
        </p:nvPicPr>
        <p:blipFill rotWithShape="1">
          <a:blip r:embed="rId3">
            <a:alphaModFix/>
          </a:blip>
          <a:srcRect l="550" r="-550"/>
          <a:stretch/>
        </p:blipFill>
        <p:spPr>
          <a:xfrm>
            <a:off x="68751" y="275304"/>
            <a:ext cx="12192000" cy="6858000"/>
          </a:xfrm>
          <a:prstGeom prst="rect">
            <a:avLst/>
          </a:prstGeom>
          <a:noFill/>
          <a:ln>
            <a:noFill/>
          </a:ln>
        </p:spPr>
      </p:pic>
      <p:sp>
        <p:nvSpPr>
          <p:cNvPr id="227" name="Google Shape;227;p25"/>
          <p:cNvSpPr/>
          <p:nvPr/>
        </p:nvSpPr>
        <p:spPr>
          <a:xfrm>
            <a:off x="571500" y="2330946"/>
            <a:ext cx="9153525" cy="78477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800" dirty="0">
                <a:solidFill>
                  <a:schemeClr val="lt1"/>
                </a:solidFill>
                <a:latin typeface="Calibri"/>
                <a:ea typeface="Calibri"/>
                <a:cs typeface="Calibri"/>
                <a:sym typeface="Calibri"/>
              </a:rPr>
              <a:t>[1]https://images.stockcake.com/public/4/0/8/4081f761-a5c0-4c0d-80dc-e4689a1a5b93_large/futuristic-drone-flight-stockcake.jp </a:t>
            </a:r>
            <a:endParaRPr sz="1800" dirty="0">
              <a:solidFill>
                <a:schemeClr val="lt1"/>
              </a:solidFill>
              <a:latin typeface="Calibri"/>
              <a:ea typeface="Calibri"/>
              <a:cs typeface="Calibri"/>
              <a:sym typeface="Calibri"/>
            </a:endParaRPr>
          </a:p>
        </p:txBody>
      </p:sp>
      <p:sp>
        <p:nvSpPr>
          <p:cNvPr id="228" name="Google Shape;228;p25"/>
          <p:cNvSpPr/>
          <p:nvPr/>
        </p:nvSpPr>
        <p:spPr>
          <a:xfrm>
            <a:off x="600075" y="3344652"/>
            <a:ext cx="9153600" cy="784800"/>
          </a:xfrm>
          <a:prstGeom prst="rect">
            <a:avLst/>
          </a:prstGeom>
          <a:noFill/>
          <a:ln>
            <a:noFill/>
          </a:ln>
        </p:spPr>
        <p:txBody>
          <a:bodyPr spcFirstLastPara="1" wrap="square" lIns="91425" tIns="45700" rIns="91425" bIns="45700" anchor="ctr" anchorCtr="0">
            <a:noAutofit/>
          </a:bodyPr>
          <a:lstStyle/>
          <a:p>
            <a:pPr lvl="0"/>
            <a:r>
              <a:rPr lang="en-US" sz="1800" dirty="0">
                <a:solidFill>
                  <a:schemeClr val="lt1"/>
                </a:solidFill>
                <a:latin typeface="Calibri"/>
                <a:ea typeface="Calibri"/>
                <a:cs typeface="Calibri"/>
                <a:sym typeface="Calibri"/>
              </a:rPr>
              <a:t>[2</a:t>
            </a:r>
            <a:r>
              <a:rPr lang="en-US" sz="1800" dirty="0">
                <a:solidFill>
                  <a:schemeClr val="bg1"/>
                </a:solidFill>
                <a:latin typeface="Calibri"/>
                <a:ea typeface="Calibri"/>
                <a:cs typeface="Calibri"/>
                <a:sym typeface="Calibri"/>
              </a:rPr>
              <a:t>]</a:t>
            </a:r>
            <a:r>
              <a:rPr lang="pl-PL" sz="1800" dirty="0">
                <a:solidFill>
                  <a:schemeClr val="bg1"/>
                </a:solidFill>
                <a:latin typeface="Calibri" panose="020F0502020204030204" pitchFamily="34" charset="0"/>
                <a:ea typeface="Calibri" panose="020F0502020204030204" pitchFamily="34" charset="0"/>
                <a:cs typeface="Calibri" panose="020F0502020204030204" pitchFamily="34" charset="0"/>
              </a:rPr>
              <a:t> T. Kryjak, M. Wąsala, H. Szolc, P. Wzorek, K. Błachut, M. Daniłowicz, </a:t>
            </a:r>
            <a:r>
              <a:rPr lang="pl-PL" sz="1800" i="1" dirty="0">
                <a:solidFill>
                  <a:schemeClr val="bg1"/>
                </a:solidFill>
                <a:latin typeface="Calibri" panose="020F0502020204030204" pitchFamily="34" charset="0"/>
                <a:ea typeface="Calibri" panose="020F0502020204030204" pitchFamily="34" charset="0"/>
                <a:cs typeface="Calibri" panose="020F0502020204030204" pitchFamily="34" charset="0"/>
              </a:rPr>
              <a:t>Advanced </a:t>
            </a:r>
            <a:r>
              <a:rPr lang="pl-PL" sz="1800" i="1" dirty="0" err="1">
                <a:solidFill>
                  <a:schemeClr val="bg1"/>
                </a:solidFill>
                <a:latin typeface="Calibri" panose="020F0502020204030204" pitchFamily="34" charset="0"/>
                <a:ea typeface="Calibri" panose="020F0502020204030204" pitchFamily="34" charset="0"/>
                <a:cs typeface="Calibri" panose="020F0502020204030204" pitchFamily="34" charset="0"/>
              </a:rPr>
              <a:t>Vision</a:t>
            </a:r>
            <a:r>
              <a:rPr lang="pl-PL" sz="1800" i="1" dirty="0">
                <a:solidFill>
                  <a:schemeClr val="bg1"/>
                </a:solidFill>
                <a:latin typeface="Calibri" panose="020F0502020204030204" pitchFamily="34" charset="0"/>
                <a:ea typeface="Calibri" panose="020F0502020204030204" pitchFamily="34" charset="0"/>
                <a:cs typeface="Calibri" panose="020F0502020204030204" pitchFamily="34" charset="0"/>
              </a:rPr>
              <a:t> Systems. AGH UST International Course</a:t>
            </a:r>
            <a:r>
              <a:rPr lang="pl-PL" sz="1800" dirty="0">
                <a:solidFill>
                  <a:schemeClr val="bg1"/>
                </a:solidFill>
                <a:latin typeface="Calibri" panose="020F0502020204030204" pitchFamily="34" charset="0"/>
                <a:ea typeface="Calibri" panose="020F0502020204030204" pitchFamily="34" charset="0"/>
                <a:cs typeface="Calibri" panose="020F0502020204030204" pitchFamily="34" charset="0"/>
              </a:rPr>
              <a:t>, </a:t>
            </a:r>
            <a:r>
              <a:rPr lang="pl-PL" sz="1800" dirty="0" err="1">
                <a:solidFill>
                  <a:schemeClr val="bg1"/>
                </a:solidFill>
                <a:latin typeface="Calibri" panose="020F0502020204030204" pitchFamily="34" charset="0"/>
                <a:ea typeface="Calibri" panose="020F0502020204030204" pitchFamily="34" charset="0"/>
                <a:cs typeface="Calibri" panose="020F0502020204030204" pitchFamily="34" charset="0"/>
              </a:rPr>
              <a:t>Fourth</a:t>
            </a:r>
            <a:r>
              <a:rPr lang="pl-PL" sz="1800" dirty="0">
                <a:solidFill>
                  <a:schemeClr val="bg1"/>
                </a:solidFill>
                <a:latin typeface="Calibri" panose="020F0502020204030204" pitchFamily="34" charset="0"/>
                <a:ea typeface="Calibri" panose="020F0502020204030204" pitchFamily="34" charset="0"/>
                <a:cs typeface="Calibri" panose="020F0502020204030204" pitchFamily="34" charset="0"/>
              </a:rPr>
              <a:t> </a:t>
            </a:r>
            <a:r>
              <a:rPr lang="pl-PL" sz="1800" dirty="0" err="1">
                <a:solidFill>
                  <a:schemeClr val="bg1"/>
                </a:solidFill>
                <a:latin typeface="Calibri" panose="020F0502020204030204" pitchFamily="34" charset="0"/>
                <a:ea typeface="Calibri" panose="020F0502020204030204" pitchFamily="34" charset="0"/>
                <a:cs typeface="Calibri" panose="020F0502020204030204" pitchFamily="34" charset="0"/>
              </a:rPr>
              <a:t>edition</a:t>
            </a:r>
            <a:r>
              <a:rPr lang="pl-PL" sz="1800" dirty="0">
                <a:solidFill>
                  <a:schemeClr val="bg1"/>
                </a:solidFill>
                <a:latin typeface="Calibri" panose="020F0502020204030204" pitchFamily="34" charset="0"/>
                <a:ea typeface="Calibri" panose="020F0502020204030204" pitchFamily="34" charset="0"/>
                <a:cs typeface="Calibri" panose="020F0502020204030204" pitchFamily="34" charset="0"/>
              </a:rPr>
              <a:t>, </a:t>
            </a:r>
            <a:r>
              <a:rPr lang="pl-PL" sz="1800" dirty="0" err="1">
                <a:solidFill>
                  <a:schemeClr val="bg1"/>
                </a:solidFill>
                <a:latin typeface="Calibri" panose="020F0502020204030204" pitchFamily="34" charset="0"/>
                <a:ea typeface="Calibri" panose="020F0502020204030204" pitchFamily="34" charset="0"/>
                <a:cs typeface="Calibri" panose="020F0502020204030204" pitchFamily="34" charset="0"/>
              </a:rPr>
              <a:t>revised</a:t>
            </a:r>
            <a:r>
              <a:rPr lang="pl-PL" sz="1800" dirty="0">
                <a:solidFill>
                  <a:schemeClr val="bg1"/>
                </a:solidFill>
                <a:latin typeface="Calibri" panose="020F0502020204030204" pitchFamily="34" charset="0"/>
                <a:ea typeface="Calibri" panose="020F0502020204030204" pitchFamily="34" charset="0"/>
                <a:cs typeface="Calibri" panose="020F0502020204030204" pitchFamily="34" charset="0"/>
              </a:rPr>
              <a:t> and </a:t>
            </a:r>
            <a:r>
              <a:rPr lang="pl-PL" sz="1800" dirty="0" err="1">
                <a:solidFill>
                  <a:schemeClr val="bg1"/>
                </a:solidFill>
                <a:latin typeface="Calibri" panose="020F0502020204030204" pitchFamily="34" charset="0"/>
                <a:ea typeface="Calibri" panose="020F0502020204030204" pitchFamily="34" charset="0"/>
                <a:cs typeface="Calibri" panose="020F0502020204030204" pitchFamily="34" charset="0"/>
              </a:rPr>
              <a:t>corrected</a:t>
            </a:r>
            <a:r>
              <a:rPr lang="pl-PL" sz="1800" dirty="0">
                <a:solidFill>
                  <a:schemeClr val="bg1"/>
                </a:solidFill>
                <a:latin typeface="Calibri" panose="020F0502020204030204" pitchFamily="34" charset="0"/>
                <a:ea typeface="Calibri" panose="020F0502020204030204" pitchFamily="34" charset="0"/>
                <a:cs typeface="Calibri" panose="020F0502020204030204" pitchFamily="34" charset="0"/>
              </a:rPr>
              <a:t>, Embedded </a:t>
            </a:r>
            <a:r>
              <a:rPr lang="pl-PL" sz="1800" dirty="0" err="1">
                <a:solidFill>
                  <a:schemeClr val="bg1"/>
                </a:solidFill>
                <a:latin typeface="Calibri" panose="020F0502020204030204" pitchFamily="34" charset="0"/>
                <a:ea typeface="Calibri" panose="020F0502020204030204" pitchFamily="34" charset="0"/>
                <a:cs typeface="Calibri" panose="020F0502020204030204" pitchFamily="34" charset="0"/>
              </a:rPr>
              <a:t>Vision</a:t>
            </a:r>
            <a:r>
              <a:rPr lang="pl-PL" sz="1800" dirty="0">
                <a:solidFill>
                  <a:schemeClr val="bg1"/>
                </a:solidFill>
                <a:latin typeface="Calibri" panose="020F0502020204030204" pitchFamily="34" charset="0"/>
                <a:ea typeface="Calibri" panose="020F0502020204030204" pitchFamily="34" charset="0"/>
                <a:cs typeface="Calibri" panose="020F0502020204030204" pitchFamily="34" charset="0"/>
              </a:rPr>
              <a:t> Systems </a:t>
            </a:r>
            <a:r>
              <a:rPr lang="pl-PL" sz="1800" dirty="0" err="1">
                <a:solidFill>
                  <a:schemeClr val="bg1"/>
                </a:solidFill>
                <a:latin typeface="Calibri" panose="020F0502020204030204" pitchFamily="34" charset="0"/>
                <a:ea typeface="Calibri" panose="020F0502020204030204" pitchFamily="34" charset="0"/>
                <a:cs typeface="Calibri" panose="020F0502020204030204" pitchFamily="34" charset="0"/>
              </a:rPr>
              <a:t>Group</a:t>
            </a:r>
            <a:r>
              <a:rPr lang="pl-PL" sz="1800" dirty="0">
                <a:solidFill>
                  <a:schemeClr val="bg1"/>
                </a:solidFill>
                <a:latin typeface="Calibri" panose="020F0502020204030204" pitchFamily="34" charset="0"/>
                <a:ea typeface="Calibri" panose="020F0502020204030204" pitchFamily="34" charset="0"/>
                <a:cs typeface="Calibri" panose="020F0502020204030204" pitchFamily="34" charset="0"/>
              </a:rPr>
              <a:t>, </a:t>
            </a:r>
            <a:r>
              <a:rPr lang="pl-PL" sz="1800" dirty="0" err="1">
                <a:solidFill>
                  <a:schemeClr val="bg1"/>
                </a:solidFill>
                <a:latin typeface="Calibri" panose="020F0502020204030204" pitchFamily="34" charset="0"/>
                <a:ea typeface="Calibri" panose="020F0502020204030204" pitchFamily="34" charset="0"/>
                <a:cs typeface="Calibri" panose="020F0502020204030204" pitchFamily="34" charset="0"/>
              </a:rPr>
              <a:t>Vision</a:t>
            </a:r>
            <a:r>
              <a:rPr lang="pl-PL" sz="1800" dirty="0">
                <a:solidFill>
                  <a:schemeClr val="bg1"/>
                </a:solidFill>
                <a:latin typeface="Calibri" panose="020F0502020204030204" pitchFamily="34" charset="0"/>
                <a:ea typeface="Calibri" panose="020F0502020204030204" pitchFamily="34" charset="0"/>
                <a:cs typeface="Calibri" panose="020F0502020204030204" pitchFamily="34" charset="0"/>
              </a:rPr>
              <a:t> Systems </a:t>
            </a:r>
            <a:r>
              <a:rPr lang="pl-PL" sz="1800" dirty="0" err="1">
                <a:solidFill>
                  <a:schemeClr val="bg1"/>
                </a:solidFill>
                <a:latin typeface="Calibri" panose="020F0502020204030204" pitchFamily="34" charset="0"/>
                <a:ea typeface="Calibri" panose="020F0502020204030204" pitchFamily="34" charset="0"/>
                <a:cs typeface="Calibri" panose="020F0502020204030204" pitchFamily="34" charset="0"/>
              </a:rPr>
              <a:t>Laboratory</a:t>
            </a:r>
            <a:r>
              <a:rPr lang="pl-PL" sz="1800" dirty="0">
                <a:solidFill>
                  <a:schemeClr val="bg1"/>
                </a:solidFill>
                <a:latin typeface="Calibri" panose="020F0502020204030204" pitchFamily="34" charset="0"/>
                <a:ea typeface="Calibri" panose="020F0502020204030204" pitchFamily="34" charset="0"/>
                <a:cs typeface="Calibri" panose="020F0502020204030204" pitchFamily="34" charset="0"/>
              </a:rPr>
              <a:t>, WEAIIB, AGH University of </a:t>
            </a:r>
            <a:r>
              <a:rPr lang="pl-PL" sz="1800" dirty="0" err="1">
                <a:solidFill>
                  <a:schemeClr val="bg1"/>
                </a:solidFill>
                <a:latin typeface="Calibri" panose="020F0502020204030204" pitchFamily="34" charset="0"/>
                <a:ea typeface="Calibri" panose="020F0502020204030204" pitchFamily="34" charset="0"/>
                <a:cs typeface="Calibri" panose="020F0502020204030204" pitchFamily="34" charset="0"/>
              </a:rPr>
              <a:t>Krakow</a:t>
            </a:r>
            <a:r>
              <a:rPr lang="pl-PL" sz="1800" dirty="0">
                <a:solidFill>
                  <a:schemeClr val="bg1"/>
                </a:solidFill>
                <a:latin typeface="Calibri" panose="020F0502020204030204" pitchFamily="34" charset="0"/>
                <a:ea typeface="Calibri" panose="020F0502020204030204" pitchFamily="34" charset="0"/>
                <a:cs typeface="Calibri" panose="020F0502020204030204" pitchFamily="34" charset="0"/>
              </a:rPr>
              <a:t>, </a:t>
            </a:r>
            <a:r>
              <a:rPr lang="pl-PL" sz="1800" dirty="0" err="1">
                <a:solidFill>
                  <a:schemeClr val="bg1"/>
                </a:solidFill>
                <a:latin typeface="Calibri" panose="020F0502020204030204" pitchFamily="34" charset="0"/>
                <a:ea typeface="Calibri" panose="020F0502020204030204" pitchFamily="34" charset="0"/>
                <a:cs typeface="Calibri" panose="020F0502020204030204" pitchFamily="34" charset="0"/>
              </a:rPr>
              <a:t>Krakow</a:t>
            </a:r>
            <a:r>
              <a:rPr lang="pl-PL" sz="1800" dirty="0">
                <a:solidFill>
                  <a:schemeClr val="bg1"/>
                </a:solidFill>
                <a:latin typeface="Calibri" panose="020F0502020204030204" pitchFamily="34" charset="0"/>
                <a:ea typeface="Calibri" panose="020F0502020204030204" pitchFamily="34" charset="0"/>
                <a:cs typeface="Calibri" panose="020F0502020204030204" pitchFamily="34" charset="0"/>
              </a:rPr>
              <a:t>, </a:t>
            </a:r>
            <a:r>
              <a:rPr lang="pl-PL" sz="1800" dirty="0" err="1">
                <a:solidFill>
                  <a:schemeClr val="bg1"/>
                </a:solidFill>
                <a:latin typeface="Calibri" panose="020F0502020204030204" pitchFamily="34" charset="0"/>
                <a:ea typeface="Calibri" panose="020F0502020204030204" pitchFamily="34" charset="0"/>
                <a:cs typeface="Calibri" panose="020F0502020204030204" pitchFamily="34" charset="0"/>
              </a:rPr>
              <a:t>February</a:t>
            </a:r>
            <a:r>
              <a:rPr lang="pl-PL" sz="1800" dirty="0">
                <a:solidFill>
                  <a:schemeClr val="bg1"/>
                </a:solidFill>
                <a:latin typeface="Calibri" panose="020F0502020204030204" pitchFamily="34" charset="0"/>
                <a:ea typeface="Calibri" panose="020F0502020204030204" pitchFamily="34" charset="0"/>
                <a:cs typeface="Calibri" panose="020F0502020204030204" pitchFamily="34" charset="0"/>
              </a:rPr>
              <a:t> 2026</a:t>
            </a:r>
            <a:endParaRPr sz="1800" b="0" i="0" u="none" strike="noStrike" cap="none" dirty="0">
              <a:solidFill>
                <a:schemeClr val="bg1"/>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229" name="Google Shape;229;p25"/>
          <p:cNvSpPr/>
          <p:nvPr/>
        </p:nvSpPr>
        <p:spPr>
          <a:xfrm>
            <a:off x="571500" y="3106191"/>
            <a:ext cx="9153525" cy="9525"/>
          </a:xfrm>
          <a:prstGeom prst="rect">
            <a:avLst/>
          </a:prstGeom>
          <a:solidFill>
            <a:srgbClr val="75757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30" name="Google Shape;230;p25"/>
          <p:cNvSpPr/>
          <p:nvPr/>
        </p:nvSpPr>
        <p:spPr>
          <a:xfrm>
            <a:off x="571500" y="3106191"/>
            <a:ext cx="9153525" cy="9525"/>
          </a:xfrm>
          <a:prstGeom prst="rect">
            <a:avLst/>
          </a:prstGeom>
          <a:solidFill>
            <a:srgbClr val="75757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31" name="Google Shape;231;p25"/>
          <p:cNvSpPr txBox="1"/>
          <p:nvPr/>
        </p:nvSpPr>
        <p:spPr>
          <a:xfrm>
            <a:off x="762000" y="571500"/>
            <a:ext cx="11401500" cy="554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0" i="0" u="none" strike="noStrike" cap="none">
                <a:solidFill>
                  <a:srgbClr val="22C55E"/>
                </a:solidFill>
                <a:latin typeface="Urbanist SemiBold"/>
                <a:ea typeface="Urbanist SemiBold"/>
                <a:cs typeface="Urbanist SemiBold"/>
                <a:sym typeface="Urbanist SemiBold"/>
              </a:rPr>
              <a:t>I</a:t>
            </a:r>
            <a:r>
              <a:rPr lang="en-US" sz="3600">
                <a:solidFill>
                  <a:srgbClr val="22C55E"/>
                </a:solidFill>
                <a:latin typeface="Urbanist SemiBold"/>
                <a:ea typeface="Urbanist SemiBold"/>
                <a:cs typeface="Urbanist SemiBold"/>
                <a:sym typeface="Urbanist SemiBold"/>
              </a:rPr>
              <a:t>mage sources</a:t>
            </a:r>
            <a:endParaRPr sz="3600">
              <a:solidFill>
                <a:srgbClr val="22C55E"/>
              </a:solidFill>
              <a:latin typeface="Urbanist SemiBold"/>
              <a:ea typeface="Urbanist SemiBold"/>
              <a:cs typeface="Urbanist SemiBold"/>
              <a:sym typeface="Urbanist SemiBold"/>
            </a:endParaRPr>
          </a:p>
        </p:txBody>
      </p:sp>
      <p:sp>
        <p:nvSpPr>
          <p:cNvPr id="232" name="Google Shape;232;p25"/>
          <p:cNvSpPr/>
          <p:nvPr/>
        </p:nvSpPr>
        <p:spPr>
          <a:xfrm>
            <a:off x="571500" y="571500"/>
            <a:ext cx="57150" cy="552450"/>
          </a:xfrm>
          <a:prstGeom prst="rect">
            <a:avLst/>
          </a:prstGeom>
          <a:solidFill>
            <a:srgbClr val="22C55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TotalTime>
  <Words>599</Words>
  <Application>Microsoft Office PowerPoint</Application>
  <PresentationFormat>Panoramiczny</PresentationFormat>
  <Paragraphs>54</Paragraphs>
  <Slides>13</Slides>
  <Notes>13</Notes>
  <HiddenSlides>0</HiddenSlides>
  <MMClips>0</MMClips>
  <ScaleCrop>false</ScaleCrop>
  <HeadingPairs>
    <vt:vector size="6" baseType="variant">
      <vt:variant>
        <vt:lpstr>Używane czcionki</vt:lpstr>
      </vt:variant>
      <vt:variant>
        <vt:i4>6</vt:i4>
      </vt:variant>
      <vt:variant>
        <vt:lpstr>Motyw</vt:lpstr>
      </vt:variant>
      <vt:variant>
        <vt:i4>1</vt:i4>
      </vt:variant>
      <vt:variant>
        <vt:lpstr>Tytuły slajdów</vt:lpstr>
      </vt:variant>
      <vt:variant>
        <vt:i4>13</vt:i4>
      </vt:variant>
    </vt:vector>
  </HeadingPairs>
  <TitlesOfParts>
    <vt:vector size="20" baseType="lpstr">
      <vt:lpstr>Calibri</vt:lpstr>
      <vt:lpstr>JetBrains Mono</vt:lpstr>
      <vt:lpstr>Urbanist</vt:lpstr>
      <vt:lpstr>Urbanist Light</vt:lpstr>
      <vt:lpstr>Arial</vt:lpstr>
      <vt:lpstr>Urbanist SemiBold</vt:lpstr>
      <vt:lpstr>Office Theme</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Piotr Grzyb</cp:lastModifiedBy>
  <cp:revision>3</cp:revision>
  <dcterms:modified xsi:type="dcterms:W3CDTF">2026-06-08T10:49:09Z</dcterms:modified>
</cp:coreProperties>
</file>